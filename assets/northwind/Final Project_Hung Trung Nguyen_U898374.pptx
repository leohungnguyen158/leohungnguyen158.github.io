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6" r:id="rId10"/>
    <p:sldId id="265" r:id="rId11"/>
    <p:sldId id="270" r:id="rId12"/>
    <p:sldId id="268" r:id="rId13"/>
    <p:sldId id="269" r:id="rId14"/>
    <p:sldId id="271" r:id="rId15"/>
    <p:sldId id="263" r:id="rId16"/>
    <p:sldId id="264" r:id="rId17"/>
    <p:sldId id="272" r:id="rId18"/>
    <p:sldId id="273" r:id="rId19"/>
  </p:sldIdLst>
  <p:sldSz cx="9144000" cy="5143500" type="screen16x9"/>
  <p:notesSz cx="6858000" cy="9144000"/>
  <p:embeddedFontLst>
    <p:embeddedFont>
      <p:font typeface="Merriweather" pitchFamily="2" charset="77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38"/>
    <p:restoredTop sz="86240"/>
  </p:normalViewPr>
  <p:slideViewPr>
    <p:cSldViewPr snapToGrid="0">
      <p:cViewPr varScale="1">
        <p:scale>
          <a:sx n="136" d="100"/>
          <a:sy n="136" d="100"/>
        </p:scale>
        <p:origin x="1344" y="48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 algn="just">
              <a:lnSpc>
                <a:spcPct val="150000"/>
              </a:lnSpc>
              <a:spcAft>
                <a:spcPts val="800"/>
              </a:spcAft>
              <a:buNone/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15fb99a4f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15fb99a4f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/>
              <a:t>- </a:t>
            </a:r>
            <a:r>
              <a:rPr lang="en-US" sz="1100" dirty="0"/>
              <a:t>Setting the stage: goals, tools, and stakeholder focus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/>
              <a:t>- </a:t>
            </a:r>
            <a:r>
              <a:rPr lang="en-US" sz="1100" dirty="0"/>
              <a:t>The strategic roles and their business challenges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100" dirty="0"/>
              <a:t>How we integrated SQL and Python to extract insights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100" dirty="0"/>
              <a:t>Key findings: employees, sales trends, products, and customers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Char char="-"/>
              <a:tabLst/>
              <a:defRPr/>
            </a:pPr>
            <a:r>
              <a:rPr lang="en-US" sz="1100" dirty="0"/>
              <a:t>ARIMA forecasting and K-Means customer clustering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Char char="-"/>
              <a:tabLst/>
              <a:defRPr/>
            </a:pPr>
            <a:r>
              <a:rPr lang="en-US" sz="1100" dirty="0"/>
              <a:t>Action plans tailored to each stakeholder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Char char="-"/>
              <a:tabLst/>
              <a:defRPr/>
            </a:pPr>
            <a:r>
              <a:rPr lang="en-US" sz="1100" dirty="0"/>
              <a:t>Limitations, improvements, and future applications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Char char="-"/>
              <a:tabLst/>
              <a:defRPr/>
            </a:pPr>
            <a:r>
              <a:rPr lang="en-US" sz="1100" dirty="0"/>
              <a:t>Open for questions and post-review adjustments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5fb99a4fe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5fb99a4fe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800" dirty="0"/>
              <a:t>Before diving into the details of our project, I want to pause and reflect on the intelligence behind the analysis. This slide represents the </a:t>
            </a:r>
            <a:r>
              <a:rPr lang="en-US" sz="1800" b="1" dirty="0"/>
              <a:t>thinking architecture</a:t>
            </a:r>
            <a:r>
              <a:rPr lang="en-US" sz="1800" dirty="0"/>
              <a:t> I followed — every data-driven decision we made started with a question.”</a:t>
            </a:r>
          </a:p>
          <a:p>
            <a:endParaRPr lang="en-US" sz="1800" dirty="0"/>
          </a:p>
          <a:p>
            <a:r>
              <a:rPr lang="en-US" sz="1800" dirty="0"/>
              <a:t>“WHO are we solving for? </a:t>
            </a:r>
          </a:p>
          <a:p>
            <a:r>
              <a:rPr lang="en-US" sz="1800" dirty="0"/>
              <a:t>WHAT are their challenges? </a:t>
            </a:r>
          </a:p>
          <a:p>
            <a:r>
              <a:rPr lang="en-US" sz="1800" dirty="0"/>
              <a:t>WHEN and WHERE do those challenges occur? </a:t>
            </a:r>
          </a:p>
          <a:p>
            <a:r>
              <a:rPr lang="en-US" sz="1800" dirty="0"/>
              <a:t>HOW did we build the solutions? </a:t>
            </a:r>
          </a:p>
          <a:p>
            <a:r>
              <a:rPr lang="en-US" sz="1800" dirty="0"/>
              <a:t>And most importantly — WHY does it matter?”</a:t>
            </a:r>
          </a:p>
          <a:p>
            <a:endParaRPr lang="en-US" sz="1800" dirty="0"/>
          </a:p>
          <a:p>
            <a:r>
              <a:rPr lang="en-US" sz="1800" dirty="0"/>
              <a:t>“This mental framework kept the project focused, logical, and strategic. By feeding these questions into our analytical engine — represented here by the brain — we ensured our work not only produced insights, but delivered </a:t>
            </a:r>
            <a:r>
              <a:rPr lang="en-US" sz="1800" b="1" dirty="0"/>
              <a:t>real business intelligence</a:t>
            </a:r>
            <a:r>
              <a:rPr lang="en-US" sz="1800" dirty="0"/>
              <a:t>.”</a:t>
            </a:r>
          </a:p>
          <a:p>
            <a:endParaRPr lang="en-US" sz="1800" dirty="0"/>
          </a:p>
          <a:p>
            <a:r>
              <a:rPr lang="en-US" sz="1800" dirty="0"/>
              <a:t>“So as we move forward, I’ll walk through each of these questions and show how they shaped my approach and empowered the stakeholders at Northwind.”</a:t>
            </a:r>
          </a:p>
          <a:p>
            <a:pPr marL="158750" indent="0" algn="just">
              <a:lnSpc>
                <a:spcPct val="150000"/>
              </a:lnSpc>
              <a:spcAft>
                <a:spcPts val="800"/>
              </a:spcAft>
              <a:buNone/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15fb99a4fe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15fb99a4fe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298450" algn="l">
              <a:lnSpc>
                <a:spcPct val="150000"/>
              </a:lnSpc>
              <a:spcAft>
                <a:spcPts val="800"/>
              </a:spcAft>
            </a:pPr>
            <a:r>
              <a:rPr lang="en-US" dirty="0"/>
              <a:t>This project targets two high-leverage roles at Northwind.</a:t>
            </a:r>
          </a:p>
          <a:p>
            <a:pPr marL="457200" indent="-298450" algn="l">
              <a:lnSpc>
                <a:spcPct val="150000"/>
              </a:lnSpc>
              <a:spcAft>
                <a:spcPts val="800"/>
              </a:spcAft>
            </a:pPr>
            <a:r>
              <a:rPr lang="en-US" dirty="0"/>
              <a:t>First, the Marketing Campaign Strategist, who needs data to decide when to launch promotions and what to feature.</a:t>
            </a:r>
          </a:p>
          <a:p>
            <a:pPr marL="457200" indent="-298450" algn="l">
              <a:lnSpc>
                <a:spcPct val="150000"/>
              </a:lnSpc>
              <a:spcAft>
                <a:spcPts val="800"/>
              </a:spcAft>
            </a:pPr>
            <a:r>
              <a:rPr lang="en-US" dirty="0"/>
              <a:t>Second, the E-commerce Personalization Lead depends on customer insights to design personalized journeys that drive loyalty and sales.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164ccfa63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164ccfa63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In this project, we didn’t just ask what data is available—we asked what questions our stakeholders urgently need answered.</a:t>
            </a:r>
          </a:p>
          <a:p>
            <a:r>
              <a:rPr lang="en-US" dirty="0"/>
              <a:t>For the strategist, it’s about timing, prioritizing SKUs, and synchronizing campaigns with demand.</a:t>
            </a:r>
          </a:p>
          <a:p>
            <a:r>
              <a:rPr lang="en-US" dirty="0"/>
              <a:t>For the personalization lead, it’s about understanding </a:t>
            </a:r>
            <a:r>
              <a:rPr lang="en-US" b="1" dirty="0"/>
              <a:t>who</a:t>
            </a:r>
            <a:r>
              <a:rPr lang="en-US" dirty="0"/>
              <a:t> buys, </a:t>
            </a:r>
            <a:r>
              <a:rPr lang="en-US" b="1" dirty="0"/>
              <a:t>how</a:t>
            </a:r>
            <a:r>
              <a:rPr lang="en-US" dirty="0"/>
              <a:t> they buy, and </a:t>
            </a:r>
            <a:r>
              <a:rPr lang="en-US" b="1" dirty="0"/>
              <a:t>how we can nudge them</a:t>
            </a:r>
            <a:r>
              <a:rPr lang="en-US" dirty="0"/>
              <a:t> to stay longer and spend more.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15fb99a4fe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15fb99a4fe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dirty="0"/>
              <a:t>HOW did we build the solution ?</a:t>
            </a:r>
          </a:p>
          <a:p>
            <a:r>
              <a:rPr lang="en-US" sz="1200" dirty="0"/>
              <a:t>This analysis was built using SQL and Python in tandem — a combination that gave us both control and flexibility. </a:t>
            </a:r>
          </a:p>
          <a:p>
            <a:r>
              <a:rPr lang="en-US" sz="1200" dirty="0"/>
              <a:t>We crafted custom SQL feature tables, manipulated data using Polars and Pandas, then applied powerful models to generate forward-looking insights.</a:t>
            </a:r>
          </a:p>
          <a:p>
            <a:r>
              <a:rPr lang="en-US" sz="1200" dirty="0"/>
              <a:t>Whether it’s forecasting sales or understanding customer personas, each model was chosen with a stakeholder’s goal in mind.</a:t>
            </a: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15fb99a4fe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15fb99a4fe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All of our analyses were rooted in the Northwind SQLite database, which houses over 90,000 records across orders, customers, employees, and products. These records span a robust timeline from July 2012 to October 2023, offering over a decade of sales activity across different channels.”</a:t>
            </a:r>
          </a:p>
          <a:p>
            <a:r>
              <a:rPr lang="en-US" dirty="0"/>
              <a:t>“On the </a:t>
            </a:r>
            <a:r>
              <a:rPr lang="en-US" b="1" dirty="0"/>
              <a:t>‘where’</a:t>
            </a:r>
            <a:r>
              <a:rPr lang="en-US" dirty="0"/>
              <a:t> side, our insights touch every part of the sales ecosystem—from internal performance reviews for the regional sales team, to e-commerce strategies driven by customer behavior.”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7ED4F5EA-FD3B-4F40-53F9-4979BDBFB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15fb99a4fe_2_5:notes">
            <a:extLst>
              <a:ext uri="{FF2B5EF4-FFF2-40B4-BE49-F238E27FC236}">
                <a16:creationId xmlns:a16="http://schemas.microsoft.com/office/drawing/2014/main" id="{7D1FE808-42D8-DB7C-DFC1-AE65AA897A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15fb99a4fe_2_5:notes">
            <a:extLst>
              <a:ext uri="{FF2B5EF4-FFF2-40B4-BE49-F238E27FC236}">
                <a16:creationId xmlns:a16="http://schemas.microsoft.com/office/drawing/2014/main" id="{72D26232-ABF2-A311-AB0F-312FDF6C55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“On the </a:t>
            </a:r>
            <a:r>
              <a:rPr lang="en-US" b="1" dirty="0"/>
              <a:t>‘when’</a:t>
            </a:r>
            <a:r>
              <a:rPr lang="en-US" dirty="0"/>
              <a:t> side, temporal trends were key. Our monthly sales analysis showed </a:t>
            </a:r>
            <a:r>
              <a:rPr lang="en-US" b="1" dirty="0"/>
              <a:t>predictable seasonality</a:t>
            </a:r>
            <a:r>
              <a:rPr lang="en-US" dirty="0"/>
              <a:t>, with spikes in </a:t>
            </a:r>
            <a:r>
              <a:rPr lang="en-US" b="1" dirty="0"/>
              <a:t>March, July, and December</a:t>
            </a:r>
            <a:r>
              <a:rPr lang="en-US" dirty="0"/>
              <a:t>, and consistent downturns in </a:t>
            </a:r>
            <a:r>
              <a:rPr lang="en-US" b="1" dirty="0"/>
              <a:t>February and October</a:t>
            </a:r>
            <a:r>
              <a:rPr lang="en-US" dirty="0"/>
              <a:t>. These trends not only informed our time-series forecasting model but also helped define when marketing efforts should ramp up or cool down.”</a:t>
            </a:r>
          </a:p>
          <a:p>
            <a:endParaRPr lang="en-US" dirty="0"/>
          </a:p>
          <a:p>
            <a:r>
              <a:rPr lang="en-US" dirty="0"/>
              <a:t>“We extended this view forward using ARIMA forecasting to project the next 12 months. That gave us both a view of the past and foresight into what’s coming next.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962723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3A0CA182-8850-1A6B-5E6D-F96CA6C21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15fb99a4fe_2_5:notes">
            <a:extLst>
              <a:ext uri="{FF2B5EF4-FFF2-40B4-BE49-F238E27FC236}">
                <a16:creationId xmlns:a16="http://schemas.microsoft.com/office/drawing/2014/main" id="{4480610A-0D51-9185-F693-D82B625D1F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15fb99a4fe_2_5:notes">
            <a:extLst>
              <a:ext uri="{FF2B5EF4-FFF2-40B4-BE49-F238E27FC236}">
                <a16:creationId xmlns:a16="http://schemas.microsoft.com/office/drawing/2014/main" id="{A49C1BAC-4155-35F5-99F2-E8A9D522B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Why does this all matter? Because for Northwind, data isn't just a byproduct — it's a growth engine.</a:t>
            </a:r>
          </a:p>
          <a:p>
            <a:endParaRPr lang="en-US" dirty="0"/>
          </a:p>
          <a:p>
            <a:r>
              <a:rPr lang="en-US" dirty="0"/>
              <a:t>Our insights allow the </a:t>
            </a:r>
            <a:r>
              <a:rPr lang="en-US" b="1" dirty="0"/>
              <a:t>Marketing Strategist</a:t>
            </a:r>
            <a:r>
              <a:rPr lang="en-US" dirty="0"/>
              <a:t> to promote the right products at the right time, maximizing revenue without cannibalizing margins.</a:t>
            </a:r>
          </a:p>
          <a:p>
            <a:endParaRPr lang="en-US" dirty="0"/>
          </a:p>
          <a:p>
            <a:r>
              <a:rPr lang="en-US" dirty="0"/>
              <a:t>Meanwhile, the </a:t>
            </a:r>
            <a:r>
              <a:rPr lang="en-US" b="1" dirty="0"/>
              <a:t>E-commerce Personalization Lead</a:t>
            </a:r>
            <a:r>
              <a:rPr lang="en-US" dirty="0"/>
              <a:t> can use our customer segments to speak directly to each persona—whether it's winning back “At-Risk” buyers or upselling to “Champions.”</a:t>
            </a:r>
          </a:p>
          <a:p>
            <a:endParaRPr lang="en-US" dirty="0"/>
          </a:p>
          <a:p>
            <a:r>
              <a:rPr lang="en-US" dirty="0"/>
              <a:t>On top of that, by knowing which SKUs drive sales and when demand peaks, we’re enabling </a:t>
            </a:r>
            <a:r>
              <a:rPr lang="en-US" b="1" dirty="0"/>
              <a:t>smarter inventory decisions</a:t>
            </a:r>
            <a:r>
              <a:rPr lang="en-US" dirty="0"/>
              <a:t>. No more stockouts in March. No more overstock in October.</a:t>
            </a:r>
          </a:p>
          <a:p>
            <a:endParaRPr lang="en-US" dirty="0"/>
          </a:p>
          <a:p>
            <a:r>
              <a:rPr lang="en-US" dirty="0"/>
              <a:t>And thanks to our integration of SQL + Python + ML + dashboards, these aren’t just static charts—they’re tools for </a:t>
            </a:r>
            <a:r>
              <a:rPr lang="en-US" b="1" dirty="0"/>
              <a:t>real-time decision-making</a:t>
            </a:r>
            <a:r>
              <a:rPr lang="en-US" dirty="0"/>
              <a:t>.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975838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01F855C1-1D96-1C21-38A7-8958749DC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15fb99a4fe_2_5:notes">
            <a:extLst>
              <a:ext uri="{FF2B5EF4-FFF2-40B4-BE49-F238E27FC236}">
                <a16:creationId xmlns:a16="http://schemas.microsoft.com/office/drawing/2014/main" id="{9B647730-BB80-BA16-4786-FF2DF71635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15fb99a4fe_2_5:notes">
            <a:extLst>
              <a:ext uri="{FF2B5EF4-FFF2-40B4-BE49-F238E27FC236}">
                <a16:creationId xmlns:a16="http://schemas.microsoft.com/office/drawing/2014/main" id="{46DA5DB6-DFAB-E32E-A159-6B99C30C89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“The Marketing Strategist is always racing against time—without predictive signals, campaigns become reactive.”</a:t>
            </a:r>
          </a:p>
          <a:p>
            <a:pPr>
              <a:lnSpc>
                <a:spcPct val="150000"/>
              </a:lnSpc>
            </a:pPr>
            <a:r>
              <a:rPr lang="en-US" dirty="0"/>
              <a:t>“We helped solve this by identifying seasonal peaks with ARIMA and reinforcing them with historical trend data.”</a:t>
            </a:r>
          </a:p>
          <a:p>
            <a:pPr>
              <a:lnSpc>
                <a:spcPct val="150000"/>
              </a:lnSpc>
            </a:pPr>
            <a:r>
              <a:rPr lang="en-US" dirty="0"/>
              <a:t>“Instead of relying on gut feeling or last year’s campaign dates, we’ve built a data-backed playbook that says </a:t>
            </a:r>
            <a:r>
              <a:rPr lang="en-US" i="1" dirty="0"/>
              <a:t>what to promote and when.</a:t>
            </a:r>
            <a:r>
              <a:rPr lang="en-US" dirty="0"/>
              <a:t>”</a:t>
            </a:r>
          </a:p>
          <a:p>
            <a:pPr>
              <a:lnSpc>
                <a:spcPct val="150000"/>
              </a:lnSpc>
            </a:pPr>
            <a:r>
              <a:rPr lang="en-US" dirty="0"/>
              <a:t>“Plus, the customer’s category rankings allow smarter bundling, so that even slower SKUs can ride the wave of top performers.”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236489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C577C806-D4D4-67C3-00F2-9A2AE33A1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15fb99a4fe_2_5:notes">
            <a:extLst>
              <a:ext uri="{FF2B5EF4-FFF2-40B4-BE49-F238E27FC236}">
                <a16:creationId xmlns:a16="http://schemas.microsoft.com/office/drawing/2014/main" id="{3B2F20F4-D354-DFBF-0ECE-A4E7CE693E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15fb99a4fe_2_5:notes">
            <a:extLst>
              <a:ext uri="{FF2B5EF4-FFF2-40B4-BE49-F238E27FC236}">
                <a16:creationId xmlns:a16="http://schemas.microsoft.com/office/drawing/2014/main" id="{17AD7B1D-CFF3-B866-28AD-E783B70DF2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“The Personalization Lead needs more than just names—they need </a:t>
            </a:r>
            <a:r>
              <a:rPr lang="en-US" i="1" dirty="0"/>
              <a:t>personas</a:t>
            </a:r>
            <a:r>
              <a:rPr lang="en-US" dirty="0"/>
              <a:t>.”</a:t>
            </a:r>
          </a:p>
          <a:p>
            <a:r>
              <a:rPr lang="en-US" dirty="0"/>
              <a:t>“We addressed this by clustering over 830 customers using Recency, Frequency, and Monetary value.”</a:t>
            </a:r>
          </a:p>
          <a:p>
            <a:r>
              <a:rPr lang="en-US" dirty="0"/>
              <a:t>“This gave us four crystal-clear segments, each with its own message, timing, and campaign need.”</a:t>
            </a:r>
          </a:p>
          <a:p>
            <a:r>
              <a:rPr lang="en-US" dirty="0"/>
              <a:t>“The result is smarter outreach – the loyal customers get VIP perks, existing customers get win-back offers, and new one get nudged toward repeat purchases.”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570984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8790E5B-BDF0-D18B-C98E-C56BA26C4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15fb99a4fe_2_5:notes">
            <a:extLst>
              <a:ext uri="{FF2B5EF4-FFF2-40B4-BE49-F238E27FC236}">
                <a16:creationId xmlns:a16="http://schemas.microsoft.com/office/drawing/2014/main" id="{289DCF84-E21F-ECF5-7F67-E8EC0EB10D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15fb99a4fe_2_5:notes">
            <a:extLst>
              <a:ext uri="{FF2B5EF4-FFF2-40B4-BE49-F238E27FC236}">
                <a16:creationId xmlns:a16="http://schemas.microsoft.com/office/drawing/2014/main" id="{44FA687D-A938-329C-29D4-C9BE2FE290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“This slide brings together the most actionable insights from our full SQL + Python pipeline.”</a:t>
            </a:r>
          </a:p>
          <a:p>
            <a:endParaRPr lang="en-US" dirty="0"/>
          </a:p>
          <a:p>
            <a:r>
              <a:rPr lang="en-US" dirty="0"/>
              <a:t>“We begin with the ARIMA forecast, which maps demand fluctuations with confidence intervals—a game-changer for planning.” + Future peaks expected in March, July, and December; confidence bands highlight volatility mid-year.</a:t>
            </a:r>
          </a:p>
          <a:p>
            <a:endParaRPr lang="en-US" dirty="0"/>
          </a:p>
          <a:p>
            <a:r>
              <a:rPr lang="en-US" dirty="0"/>
              <a:t>“Our employee leaderboard gives the Sales Director clarity on who’s excelling and who’s just a few deals away from the top.” + Margaret Peacock leads, but the sales margin is narrow across the top 5—coaching can shift rankings.</a:t>
            </a:r>
          </a:p>
          <a:p>
            <a:endParaRPr lang="en-US" dirty="0"/>
          </a:p>
          <a:p>
            <a:r>
              <a:rPr lang="en-US" dirty="0"/>
              <a:t>“The product ranking analysis revealed not only the bestsellers but the untapped potential of mid-tier SKUs.” + Ipoh Coffee dominates Beverages; mid-ranked SKUs offer bundling potential.</a:t>
            </a:r>
          </a:p>
          <a:p>
            <a:endParaRPr lang="en-US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433441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893B0B9-049C-8956-5147-3A555D53B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15fb99a4fe_2_5:notes">
            <a:extLst>
              <a:ext uri="{FF2B5EF4-FFF2-40B4-BE49-F238E27FC236}">
                <a16:creationId xmlns:a16="http://schemas.microsoft.com/office/drawing/2014/main" id="{E0D9C069-C129-C551-5CCB-0AC6B21108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15fb99a4fe_2_5:notes">
            <a:extLst>
              <a:ext uri="{FF2B5EF4-FFF2-40B4-BE49-F238E27FC236}">
                <a16:creationId xmlns:a16="http://schemas.microsoft.com/office/drawing/2014/main" id="{487FE399-2D0C-652F-AC09-E90EAA03EC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“The violin plot gave the Personalization Lead a laser-focused view of customer spending behavior.” + High-value customers clearly stand out—ideal for personalization and loyalty campaigns.</a:t>
            </a:r>
          </a:p>
          <a:p>
            <a:endParaRPr lang="en-US" dirty="0"/>
          </a:p>
          <a:p>
            <a:r>
              <a:rPr lang="en-US" dirty="0"/>
              <a:t>“Finally, the PCA-based clustering showed us where every customer sits—this insight powers customized outreach across the board.” + 4 customer personas identified—Champions, Loyal Potentials, New Arrivals, At-Risk.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377961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944353D3-B791-58FD-7C4C-E7DA641C7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15fb99a4fe_2_5:notes">
            <a:extLst>
              <a:ext uri="{FF2B5EF4-FFF2-40B4-BE49-F238E27FC236}">
                <a16:creationId xmlns:a16="http://schemas.microsoft.com/office/drawing/2014/main" id="{D91DFF9C-751E-1856-7D92-87E344C232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15fb99a4fe_2_5:notes">
            <a:extLst>
              <a:ext uri="{FF2B5EF4-FFF2-40B4-BE49-F238E27FC236}">
                <a16:creationId xmlns:a16="http://schemas.microsoft.com/office/drawing/2014/main" id="{20592925-8ADE-CB3B-EB1C-6CBD642B47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/>
              <a:t>Marketing Strategist:</a:t>
            </a:r>
          </a:p>
          <a:p>
            <a:r>
              <a:rPr lang="en-US" dirty="0"/>
              <a:t>“For the Campaign Strategist, timing is everything. The ARIMA forecast lets them plan with statistical confidence.”</a:t>
            </a:r>
          </a:p>
          <a:p>
            <a:r>
              <a:rPr lang="en-US" dirty="0"/>
              <a:t>“By using category leaders like Ipoh Coffee as anchors, they can increase the velocity of underperforming SKUs through bundling.”</a:t>
            </a:r>
          </a:p>
          <a:p>
            <a:r>
              <a:rPr lang="en-US" dirty="0"/>
              <a:t>“Promotions shouldn't just fill gaps—they should build habits. That's why our violin analysis helps target high-potential mid-tier customers before they churn.”</a:t>
            </a:r>
          </a:p>
          <a:p>
            <a:r>
              <a:rPr lang="en-US" dirty="0"/>
              <a:t>“Finally, these insights don’t sit in static reports. Interactive dashboards let them pivot based on real-time feedback.”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/>
              <a:t>E-Comm:</a:t>
            </a:r>
          </a:p>
          <a:p>
            <a:r>
              <a:rPr lang="en-US" dirty="0"/>
              <a:t>Our RFM clustering gives the Personalization Lead a GPS for every customer. From VIPs to At-Risk accounts, there’s a playbook for each.”</a:t>
            </a:r>
          </a:p>
          <a:p>
            <a:r>
              <a:rPr lang="en-US" dirty="0"/>
              <a:t>“We go beyond segmentation—each cluster comes with an outreach plan: incentives, content, and timing.”</a:t>
            </a:r>
          </a:p>
          <a:p>
            <a:r>
              <a:rPr lang="en-US" dirty="0"/>
              <a:t>“By marrying customer behavior with model outputs, the Personalization Lead can boost loyalty, repeat orders, and overall lifetime value.”</a:t>
            </a:r>
          </a:p>
          <a:p>
            <a:r>
              <a:rPr lang="en-US" dirty="0"/>
              <a:t>“And with feedback loops, this isn’t a one-time insight—it becomes part of an ongoing personalization engine.”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28765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1652bafd8a_3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1652bafd8a_3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“We’ve laid the foundation—but Northwind can go even further.”</a:t>
            </a:r>
          </a:p>
          <a:p>
            <a:r>
              <a:rPr lang="en-US" dirty="0"/>
              <a:t>“By introducing Prophet, we can capture multiple </a:t>
            </a:r>
            <a:r>
              <a:rPr lang="en-US" dirty="0" err="1"/>
              <a:t>seasonalities</a:t>
            </a:r>
            <a:r>
              <a:rPr lang="en-US" dirty="0"/>
              <a:t>, like holiday surges and mid-year promotions.”</a:t>
            </a:r>
          </a:p>
          <a:p>
            <a:r>
              <a:rPr lang="en-US" dirty="0"/>
              <a:t>“Live dashboards make insights instantly actionable—letting decision-makers steer the business in real-time.”</a:t>
            </a:r>
          </a:p>
          <a:p>
            <a:r>
              <a:rPr lang="en-US" dirty="0"/>
              <a:t>“And imagine if product recommendations updated themselves based on real purchase behavior. That’s where collaborative filtering comes in.”</a:t>
            </a:r>
          </a:p>
          <a:p>
            <a:r>
              <a:rPr lang="en-US" dirty="0"/>
              <a:t>“Ultimately, we’re moving toward an ecosystem where strategy, automation, and personalization work hand-in-hand.”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15fb99a4fe_2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15fb99a4fe_2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2E7CD0EF-0026-43F8-ACDD-045198351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1652bafd8a_3_3:notes">
            <a:extLst>
              <a:ext uri="{FF2B5EF4-FFF2-40B4-BE49-F238E27FC236}">
                <a16:creationId xmlns:a16="http://schemas.microsoft.com/office/drawing/2014/main" id="{F94CBA30-A295-1F4F-58F1-382204BB90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1652bafd8a_3_3:notes">
            <a:extLst>
              <a:ext uri="{FF2B5EF4-FFF2-40B4-BE49-F238E27FC236}">
                <a16:creationId xmlns:a16="http://schemas.microsoft.com/office/drawing/2014/main" id="{D8FA8A17-5296-A3AB-BFB7-EF6BEAEE5C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116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4DF601AA-5C95-D97B-F533-4CF685D75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1652bafd8a_3_3:notes">
            <a:extLst>
              <a:ext uri="{FF2B5EF4-FFF2-40B4-BE49-F238E27FC236}">
                <a16:creationId xmlns:a16="http://schemas.microsoft.com/office/drawing/2014/main" id="{AD776E5F-2920-C00A-2882-482BF9C1AC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1652bafd8a_3_3:notes">
            <a:extLst>
              <a:ext uri="{FF2B5EF4-FFF2-40B4-BE49-F238E27FC236}">
                <a16:creationId xmlns:a16="http://schemas.microsoft.com/office/drawing/2014/main" id="{ECDDAE60-CB6C-4849-FDB7-44128B053A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354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.jpg"/><Relationship Id="rId7" Type="http://schemas.openxmlformats.org/officeDocument/2006/relationships/slide" Target="slide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slide" Target="slide7.xml"/><Relationship Id="rId5" Type="http://schemas.openxmlformats.org/officeDocument/2006/relationships/slide" Target="slide6.xml"/><Relationship Id="rId4" Type="http://schemas.openxmlformats.org/officeDocument/2006/relationships/slide" Target="slide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slide" Target="slide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jp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176547" y="1410008"/>
            <a:ext cx="8834700" cy="67856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Merriweather"/>
                <a:ea typeface="Merriweather"/>
                <a:cs typeface="Merriweather"/>
                <a:sym typeface="Merriweather"/>
              </a:rPr>
              <a:t>AD 599S B1 Final Project</a:t>
            </a:r>
            <a:endParaRPr lang="en-US" sz="2800" dirty="0">
              <a:latin typeface="Merriweather"/>
              <a:sym typeface="Merriweather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523245" y="2384369"/>
            <a:ext cx="6141305" cy="13935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90000"/>
              </a:lnSpc>
            </a:pPr>
            <a:r>
              <a:rPr lang="en-US" sz="1800" dirty="0">
                <a:latin typeface="Merriweather"/>
                <a:ea typeface="Merriweather"/>
                <a:cs typeface="Merriweather"/>
                <a:sym typeface="Merriweather"/>
              </a:rPr>
              <a:t>The Northwind Project:</a:t>
            </a:r>
            <a:br>
              <a:rPr lang="en-US" sz="1800" dirty="0">
                <a:latin typeface="Merriweather"/>
                <a:ea typeface="Merriweather"/>
                <a:cs typeface="Merriweather"/>
                <a:sym typeface="Merriweather"/>
              </a:rPr>
            </a:br>
            <a:endParaRPr lang="en-US" sz="1800" dirty="0">
              <a:latin typeface="Merriweather"/>
              <a:ea typeface="Merriweather"/>
              <a:cs typeface="Merriweather"/>
              <a:sym typeface="Merriweather"/>
            </a:endParaRPr>
          </a:p>
          <a:p>
            <a:pPr lvl="0">
              <a:lnSpc>
                <a:spcPct val="90000"/>
              </a:lnSpc>
            </a:pPr>
            <a:r>
              <a:rPr lang="en-US" sz="1800" dirty="0">
                <a:latin typeface="Merriweather"/>
              </a:rPr>
              <a:t>Predictive Analytics &amp; Strategic Insights</a:t>
            </a:r>
            <a:endParaRPr sz="1400" dirty="0"/>
          </a:p>
        </p:txBody>
      </p:sp>
      <p:sp>
        <p:nvSpPr>
          <p:cNvPr id="56" name="Google Shape;56;p13"/>
          <p:cNvSpPr txBox="1"/>
          <p:nvPr/>
        </p:nvSpPr>
        <p:spPr>
          <a:xfrm>
            <a:off x="6185100" y="4438275"/>
            <a:ext cx="2958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Presented by: Hung Trung Nguyen</a:t>
            </a:r>
            <a:endParaRPr dirty="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5" name="Picture 4" descr="A red sign with white text&#10;&#10;Description automatically generated">
            <a:extLst>
              <a:ext uri="{FF2B5EF4-FFF2-40B4-BE49-F238E27FC236}">
                <a16:creationId xmlns:a16="http://schemas.microsoft.com/office/drawing/2014/main" id="{FF40FD55-CA57-7929-C0FE-D36EFEC8E1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821" y="77484"/>
            <a:ext cx="745979" cy="3399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3363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b="1" dirty="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AGENDA</a:t>
            </a:r>
            <a:endParaRPr b="1" dirty="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221164" y="969594"/>
            <a:ext cx="8701671" cy="391354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algn="ctr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400" b="1" dirty="0"/>
              <a:t>Project Overview</a:t>
            </a:r>
          </a:p>
          <a:p>
            <a:pPr algn="ctr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400" b="1" dirty="0"/>
              <a:t>Stakeholder Recap</a:t>
            </a:r>
          </a:p>
          <a:p>
            <a:pPr algn="ctr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400" b="1" dirty="0"/>
              <a:t>Data Methodology</a:t>
            </a:r>
            <a:endParaRPr lang="en-US" sz="2400" dirty="0"/>
          </a:p>
          <a:p>
            <a:pPr algn="ctr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400" b="1" dirty="0"/>
              <a:t>Analytical Insights</a:t>
            </a:r>
          </a:p>
          <a:p>
            <a:pPr algn="ctr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400" b="1" dirty="0"/>
              <a:t>Predictive &amp; Segmentation Models</a:t>
            </a:r>
          </a:p>
          <a:p>
            <a:pPr algn="ctr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400" b="1" dirty="0"/>
              <a:t>Strategic Recommendations</a:t>
            </a:r>
          </a:p>
          <a:p>
            <a:pPr algn="ctr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400" b="1" dirty="0"/>
              <a:t>Lessons Learned &amp; Next Steps</a:t>
            </a:r>
          </a:p>
          <a:p>
            <a:pPr algn="ctr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400" b="1" dirty="0"/>
              <a:t>Q&amp;A + Feedback</a:t>
            </a:r>
            <a:endParaRPr dirty="0"/>
          </a:p>
        </p:txBody>
      </p:sp>
      <p:pic>
        <p:nvPicPr>
          <p:cNvPr id="2" name="Picture 1" descr="A red sign with white text&#10;&#10;Description automatically generated">
            <a:extLst>
              <a:ext uri="{FF2B5EF4-FFF2-40B4-BE49-F238E27FC236}">
                <a16:creationId xmlns:a16="http://schemas.microsoft.com/office/drawing/2014/main" id="{44F5C5DC-D714-5D47-E2C9-54071CACB2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821" y="77484"/>
            <a:ext cx="745979" cy="339959"/>
          </a:xfrm>
          <a:prstGeom prst="rect">
            <a:avLst/>
          </a:prstGeom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52" y="4788"/>
            <a:ext cx="9144452" cy="51435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8" name="Google Shape;68;p15">
            <a:hlinkClick r:id="rId4" action="ppaction://hlinksldjump"/>
          </p:cNvPr>
          <p:cNvSpPr/>
          <p:nvPr/>
        </p:nvSpPr>
        <p:spPr>
          <a:xfrm>
            <a:off x="1256992" y="1596793"/>
            <a:ext cx="1257444" cy="540756"/>
          </a:xfrm>
          <a:prstGeom prst="cloud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WHAT</a:t>
            </a:r>
            <a:endParaRPr sz="1300" dirty="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0" name="Google Shape;70;p15">
            <a:hlinkClick r:id="rId5" action="ppaction://hlinksldjump"/>
          </p:cNvPr>
          <p:cNvSpPr/>
          <p:nvPr/>
        </p:nvSpPr>
        <p:spPr>
          <a:xfrm>
            <a:off x="0" y="2076678"/>
            <a:ext cx="1366200" cy="495072"/>
          </a:xfrm>
          <a:prstGeom prst="cloud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WHEN</a:t>
            </a:r>
            <a:endParaRPr sz="1300" dirty="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2" name="Google Shape;72;p15">
            <a:hlinkClick r:id="rId6" action="ppaction://hlinksldjump"/>
          </p:cNvPr>
          <p:cNvSpPr/>
          <p:nvPr/>
        </p:nvSpPr>
        <p:spPr>
          <a:xfrm>
            <a:off x="1937368" y="2839737"/>
            <a:ext cx="1257444" cy="540756"/>
          </a:xfrm>
          <a:prstGeom prst="cloud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WHERE</a:t>
            </a:r>
            <a:endParaRPr sz="1300" dirty="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3" name="Google Shape;73;p15">
            <a:hlinkClick r:id="rId7" action="ppaction://hlinksldjump"/>
          </p:cNvPr>
          <p:cNvSpPr/>
          <p:nvPr/>
        </p:nvSpPr>
        <p:spPr>
          <a:xfrm>
            <a:off x="2412224" y="353850"/>
            <a:ext cx="1112076" cy="540756"/>
          </a:xfrm>
          <a:prstGeom prst="cloud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WHO</a:t>
            </a:r>
            <a:endParaRPr sz="1300" dirty="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2" name="Picture 1" descr="A red sign with white text&#10;&#10;Description automatically generated">
            <a:extLst>
              <a:ext uri="{FF2B5EF4-FFF2-40B4-BE49-F238E27FC236}">
                <a16:creationId xmlns:a16="http://schemas.microsoft.com/office/drawing/2014/main" id="{F75B6D6D-5F88-0CF9-4393-8E447396E8B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5012" y="70857"/>
            <a:ext cx="745979" cy="339959"/>
          </a:xfrm>
          <a:prstGeom prst="rect">
            <a:avLst/>
          </a:prstGeom>
        </p:spPr>
      </p:pic>
      <p:sp>
        <p:nvSpPr>
          <p:cNvPr id="3" name="Google Shape;68;p15">
            <a:hlinkClick r:id="rId4" action="ppaction://hlinksldjump"/>
            <a:extLst>
              <a:ext uri="{FF2B5EF4-FFF2-40B4-BE49-F238E27FC236}">
                <a16:creationId xmlns:a16="http://schemas.microsoft.com/office/drawing/2014/main" id="{EB3BA35C-8BCF-8CA7-6B32-9CA9A69ED656}"/>
              </a:ext>
            </a:extLst>
          </p:cNvPr>
          <p:cNvSpPr/>
          <p:nvPr/>
        </p:nvSpPr>
        <p:spPr>
          <a:xfrm>
            <a:off x="405517" y="3798369"/>
            <a:ext cx="1257444" cy="540756"/>
          </a:xfrm>
          <a:prstGeom prst="cloud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HOW</a:t>
            </a:r>
            <a:endParaRPr sz="1300" dirty="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" name="Google Shape;68;p15">
            <a:hlinkClick r:id="rId4" action="ppaction://hlinksldjump"/>
            <a:extLst>
              <a:ext uri="{FF2B5EF4-FFF2-40B4-BE49-F238E27FC236}">
                <a16:creationId xmlns:a16="http://schemas.microsoft.com/office/drawing/2014/main" id="{F365F2C2-BA98-6E1B-F652-0E8D5124588B}"/>
              </a:ext>
            </a:extLst>
          </p:cNvPr>
          <p:cNvSpPr/>
          <p:nvPr/>
        </p:nvSpPr>
        <p:spPr>
          <a:xfrm>
            <a:off x="-452" y="4420868"/>
            <a:ext cx="1257444" cy="540756"/>
          </a:xfrm>
          <a:prstGeom prst="cloud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WHY</a:t>
            </a:r>
            <a:endParaRPr sz="1300" dirty="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/>
        </p:nvSpPr>
        <p:spPr>
          <a:xfrm>
            <a:off x="1987826" y="306339"/>
            <a:ext cx="5168347" cy="370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u="sng" dirty="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1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WHO</a:t>
            </a:r>
            <a:r>
              <a:rPr lang="en" sz="250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" sz="210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are the stakeholders</a:t>
            </a:r>
            <a:r>
              <a:rPr lang="en" sz="250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?</a:t>
            </a:r>
            <a:endParaRPr sz="2500" dirty="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2" name="Picture 1" descr="A red sign with white text&#10;&#10;Description automatically generated">
            <a:extLst>
              <a:ext uri="{FF2B5EF4-FFF2-40B4-BE49-F238E27FC236}">
                <a16:creationId xmlns:a16="http://schemas.microsoft.com/office/drawing/2014/main" id="{A43335ED-283F-314F-FD7B-B05BE47F86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821" y="77484"/>
            <a:ext cx="745979" cy="3399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9FB2BBC-37A7-E535-6392-14DB7E9B1691}"/>
              </a:ext>
            </a:extLst>
          </p:cNvPr>
          <p:cNvSpPr txBox="1"/>
          <p:nvPr/>
        </p:nvSpPr>
        <p:spPr>
          <a:xfrm>
            <a:off x="373713" y="1305241"/>
            <a:ext cx="3737113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💼 </a:t>
            </a:r>
            <a:r>
              <a:rPr lang="en-US" b="1" dirty="0">
                <a:solidFill>
                  <a:schemeClr val="tx1"/>
                </a:solidFill>
              </a:rPr>
              <a:t>Marketing Campaign Strategist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Designs and executes promotions, seasonal campaigns, and product bundles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Aligns marketing efforts with high-performing products and sales peaks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Seeks to </a:t>
            </a:r>
            <a:r>
              <a:rPr lang="en-US" b="1" dirty="0">
                <a:solidFill>
                  <a:schemeClr val="tx1"/>
                </a:solidFill>
              </a:rPr>
              <a:t>maximize ROI</a:t>
            </a:r>
            <a:r>
              <a:rPr lang="en-US" dirty="0">
                <a:solidFill>
                  <a:schemeClr val="tx1"/>
                </a:solidFill>
              </a:rPr>
              <a:t> through </a:t>
            </a:r>
            <a:r>
              <a:rPr lang="en-US" b="1" dirty="0">
                <a:solidFill>
                  <a:schemeClr val="tx1"/>
                </a:solidFill>
              </a:rPr>
              <a:t>timely, data-informed campaigns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804015-4C5C-86D0-1132-AF33BF32B15E}"/>
              </a:ext>
            </a:extLst>
          </p:cNvPr>
          <p:cNvSpPr txBox="1"/>
          <p:nvPr/>
        </p:nvSpPr>
        <p:spPr>
          <a:xfrm>
            <a:off x="5542059" y="1305241"/>
            <a:ext cx="3434963" cy="2745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🌐 </a:t>
            </a:r>
            <a:r>
              <a:rPr lang="en-US" b="1" dirty="0">
                <a:solidFill>
                  <a:schemeClr val="tx1"/>
                </a:solidFill>
              </a:rPr>
              <a:t>E-commerce Personalization Lead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Manages digital engagement across web, email, and mobile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Customizes shopping experiences through recommendations and A/B testing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Focuses on </a:t>
            </a:r>
            <a:r>
              <a:rPr lang="en-US" b="1" dirty="0">
                <a:solidFill>
                  <a:schemeClr val="tx1"/>
                </a:solidFill>
              </a:rPr>
              <a:t>boosting customer loyalty and conversion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/>
        </p:nvSpPr>
        <p:spPr>
          <a:xfrm>
            <a:off x="2524250" y="626875"/>
            <a:ext cx="1036500" cy="5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2"/>
              </a:solidFill>
            </a:endParaRPr>
          </a:p>
        </p:txBody>
      </p:sp>
      <p:pic>
        <p:nvPicPr>
          <p:cNvPr id="2" name="Picture 1" descr="A red sign with white text&#10;&#10;Description automatically generated">
            <a:extLst>
              <a:ext uri="{FF2B5EF4-FFF2-40B4-BE49-F238E27FC236}">
                <a16:creationId xmlns:a16="http://schemas.microsoft.com/office/drawing/2014/main" id="{FFBD195C-9B8D-FA48-D024-3A53494CA9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821" y="77484"/>
            <a:ext cx="745979" cy="3399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CBD2ED9-3FF6-E95E-2FB3-F16F96F7DD40}"/>
              </a:ext>
            </a:extLst>
          </p:cNvPr>
          <p:cNvSpPr txBox="1"/>
          <p:nvPr/>
        </p:nvSpPr>
        <p:spPr>
          <a:xfrm>
            <a:off x="2676017" y="991534"/>
            <a:ext cx="4251488" cy="38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just">
              <a:lnSpc>
                <a:spcPct val="150000"/>
              </a:lnSpc>
              <a:buNone/>
              <a:defRPr b="1" u="sng">
                <a:solidFill>
                  <a:schemeClr val="dk1"/>
                </a:solidFill>
                <a:latin typeface="Merriweather"/>
                <a:ea typeface="Merriweather"/>
                <a:cs typeface="Merriweather"/>
              </a:defRPr>
            </a:lvl1pPr>
          </a:lstStyle>
          <a:p>
            <a:pPr algn="ctr"/>
            <a:r>
              <a:rPr lang="en-US" sz="1800" u="none" dirty="0">
                <a:solidFill>
                  <a:schemeClr val="bg1"/>
                </a:solidFill>
              </a:rPr>
              <a:t>WHAT are the business questions?</a:t>
            </a:r>
          </a:p>
        </p:txBody>
      </p:sp>
      <p:pic>
        <p:nvPicPr>
          <p:cNvPr id="1028" name="Picture 4" descr="Italian Suits: Over 12,412 Royalty-Free Licensable Stock Photos |  Shutterstock">
            <a:extLst>
              <a:ext uri="{FF2B5EF4-FFF2-40B4-BE49-F238E27FC236}">
                <a16:creationId xmlns:a16="http://schemas.microsoft.com/office/drawing/2014/main" id="{F27EE405-15F5-D832-5247-C0CF19B299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859" b="5414"/>
          <a:stretch>
            <a:fillRect/>
          </a:stretch>
        </p:blipFill>
        <p:spPr bwMode="auto">
          <a:xfrm>
            <a:off x="1215506" y="3153601"/>
            <a:ext cx="1308744" cy="1989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 person in a suit with his hand on his chin&#10;&#10;AI-generated content may be incorrect.">
            <a:extLst>
              <a:ext uri="{FF2B5EF4-FFF2-40B4-BE49-F238E27FC236}">
                <a16:creationId xmlns:a16="http://schemas.microsoft.com/office/drawing/2014/main" id="{7077B4DB-533B-856E-2F63-9685828FFC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8701" y="3090096"/>
            <a:ext cx="1138250" cy="2053404"/>
          </a:xfrm>
          <a:prstGeom prst="rect">
            <a:avLst/>
          </a:prstGeom>
        </p:spPr>
      </p:pic>
      <p:sp>
        <p:nvSpPr>
          <p:cNvPr id="10" name="Google Shape;73;p15">
            <a:hlinkClick r:id="rId7" action="ppaction://hlinksldjump"/>
            <a:extLst>
              <a:ext uri="{FF2B5EF4-FFF2-40B4-BE49-F238E27FC236}">
                <a16:creationId xmlns:a16="http://schemas.microsoft.com/office/drawing/2014/main" id="{20DF98D6-DC89-CFF4-7FD8-BB19585C09CF}"/>
              </a:ext>
            </a:extLst>
          </p:cNvPr>
          <p:cNvSpPr/>
          <p:nvPr/>
        </p:nvSpPr>
        <p:spPr>
          <a:xfrm>
            <a:off x="-63667" y="1573139"/>
            <a:ext cx="4708689" cy="1516957"/>
          </a:xfrm>
          <a:prstGeom prst="cloud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buFont typeface="Wingdings" pitchFamily="2" charset="2"/>
              <a:buChar char="ü"/>
            </a:pPr>
            <a:r>
              <a:rPr lang="en-US" sz="1100" dirty="0"/>
              <a:t>When do our sales naturally peak, and how can we time promotions to amplify them?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en-US" sz="1100" dirty="0"/>
              <a:t>Which products consistently drive revenue within each category?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en-US" sz="1100" dirty="0"/>
              <a:t>How do we balance seasonal promotions with long-term product strategy?</a:t>
            </a:r>
          </a:p>
        </p:txBody>
      </p:sp>
      <p:sp>
        <p:nvSpPr>
          <p:cNvPr id="11" name="Google Shape;73;p15">
            <a:hlinkClick r:id="rId7" action="ppaction://hlinksldjump"/>
            <a:extLst>
              <a:ext uri="{FF2B5EF4-FFF2-40B4-BE49-F238E27FC236}">
                <a16:creationId xmlns:a16="http://schemas.microsoft.com/office/drawing/2014/main" id="{10D637DA-0B46-5080-8428-749100EE27DD}"/>
              </a:ext>
            </a:extLst>
          </p:cNvPr>
          <p:cNvSpPr/>
          <p:nvPr/>
        </p:nvSpPr>
        <p:spPr>
          <a:xfrm>
            <a:off x="4801761" y="1436490"/>
            <a:ext cx="4342240" cy="1815757"/>
          </a:xfrm>
          <a:prstGeom prst="cloud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buFont typeface="Wingdings" pitchFamily="2" charset="2"/>
              <a:buChar char="Ø"/>
            </a:pPr>
            <a:r>
              <a:rPr lang="en-US" sz="1100" dirty="0"/>
              <a:t>Which customers spend the most—and how do their behaviors differ?</a:t>
            </a:r>
          </a:p>
          <a:p>
            <a:pPr marL="171450" indent="-171450">
              <a:buFont typeface="Wingdings" pitchFamily="2" charset="2"/>
              <a:buChar char="Ø"/>
            </a:pPr>
            <a:r>
              <a:rPr lang="en-US" sz="1100" dirty="0"/>
              <a:t>How can we segment customers to deliver personalized messaging at scale?</a:t>
            </a:r>
          </a:p>
          <a:p>
            <a:pPr marL="171450" indent="-171450">
              <a:buFont typeface="Wingdings" pitchFamily="2" charset="2"/>
              <a:buChar char="Ø"/>
            </a:pPr>
            <a:r>
              <a:rPr lang="en-US" sz="1100" dirty="0"/>
              <a:t>What kind of product recommendations or re-engagement tactics will maximize loyalty?</a:t>
            </a:r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/>
        </p:nvSpPr>
        <p:spPr>
          <a:xfrm>
            <a:off x="3828502" y="-6299"/>
            <a:ext cx="13419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HOW ?</a:t>
            </a:r>
            <a:r>
              <a:rPr lang="en" sz="2400" b="1" dirty="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rPr>
              <a:t>  </a:t>
            </a:r>
            <a:endParaRPr sz="2400" b="1" dirty="0">
              <a:solidFill>
                <a:schemeClr val="lt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2" name="Picture 1" descr="A red sign with white text&#10;&#10;Description automatically generated">
            <a:extLst>
              <a:ext uri="{FF2B5EF4-FFF2-40B4-BE49-F238E27FC236}">
                <a16:creationId xmlns:a16="http://schemas.microsoft.com/office/drawing/2014/main" id="{94A7BEFE-6519-B41C-6110-2FA88E3B2C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821" y="77484"/>
            <a:ext cx="745979" cy="3399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630963-38FA-B7A1-2B15-06FFB72E10DC}"/>
              </a:ext>
            </a:extLst>
          </p:cNvPr>
          <p:cNvSpPr txBox="1"/>
          <p:nvPr/>
        </p:nvSpPr>
        <p:spPr>
          <a:xfrm>
            <a:off x="98950" y="650559"/>
            <a:ext cx="365644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🧰 </a:t>
            </a:r>
            <a:r>
              <a:rPr lang="en-US" b="1" dirty="0">
                <a:solidFill>
                  <a:schemeClr val="tx1"/>
                </a:solidFill>
              </a:rPr>
              <a:t>Integrated SQL + Python Workflow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All queries executed directly in Python using SQLite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Clean data pipeline enabled seamless transformation and analysis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63AA79-70C7-35F4-0EE0-A7C6770B4DA1}"/>
              </a:ext>
            </a:extLst>
          </p:cNvPr>
          <p:cNvSpPr txBox="1"/>
          <p:nvPr/>
        </p:nvSpPr>
        <p:spPr>
          <a:xfrm>
            <a:off x="4949073" y="599889"/>
            <a:ext cx="43562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📦 </a:t>
            </a:r>
            <a:r>
              <a:rPr lang="en-US" b="1" dirty="0">
                <a:solidFill>
                  <a:schemeClr val="tx1"/>
                </a:solidFill>
              </a:rPr>
              <a:t>Key Python Libraries Used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Pandas, Polars: fast, efficient data manipulation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</a:rPr>
              <a:t>Plotly</a:t>
            </a:r>
            <a:r>
              <a:rPr lang="en-US" dirty="0">
                <a:solidFill>
                  <a:schemeClr val="tx1"/>
                </a:solidFill>
              </a:rPr>
              <a:t>, Seaborn: interactive &amp; insightful visualizations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</a:rPr>
              <a:t>statsmodels</a:t>
            </a:r>
            <a:r>
              <a:rPr lang="en-US" dirty="0">
                <a:solidFill>
                  <a:schemeClr val="tx1"/>
                </a:solidFill>
              </a:rPr>
              <a:t>: ARIMA time-series forecasting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</a:rPr>
              <a:t>sklearn</a:t>
            </a:r>
            <a:r>
              <a:rPr lang="en-US" dirty="0">
                <a:solidFill>
                  <a:schemeClr val="tx1"/>
                </a:solidFill>
              </a:rPr>
              <a:t>: K-Means clustering with PCA dimensionality reduction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65318A-6C12-A4E3-7E89-B6001D620BFE}"/>
              </a:ext>
            </a:extLst>
          </p:cNvPr>
          <p:cNvSpPr txBox="1"/>
          <p:nvPr/>
        </p:nvSpPr>
        <p:spPr>
          <a:xfrm>
            <a:off x="98950" y="3158616"/>
            <a:ext cx="4572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🧱 </a:t>
            </a:r>
            <a:r>
              <a:rPr lang="en-US" b="1" dirty="0">
                <a:solidFill>
                  <a:schemeClr val="tx1"/>
                </a:solidFill>
              </a:rPr>
              <a:t>Custom Feature Tables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</a:rPr>
              <a:t>Monthly_Sales_Features</a:t>
            </a:r>
            <a:r>
              <a:rPr lang="en-US" dirty="0">
                <a:solidFill>
                  <a:schemeClr val="tx1"/>
                </a:solidFill>
              </a:rPr>
              <a:t>: monthly revenue for time-series prediction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</a:rPr>
              <a:t>Customer_RFM_Features</a:t>
            </a:r>
            <a:r>
              <a:rPr lang="en-US" dirty="0">
                <a:solidFill>
                  <a:schemeClr val="tx1"/>
                </a:solidFill>
              </a:rPr>
              <a:t>: recency, frequency, monetary value for clustering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0929F3-614E-DC53-0908-4E37722E6979}"/>
              </a:ext>
            </a:extLst>
          </p:cNvPr>
          <p:cNvSpPr txBox="1"/>
          <p:nvPr/>
        </p:nvSpPr>
        <p:spPr>
          <a:xfrm>
            <a:off x="4801109" y="3158616"/>
            <a:ext cx="465212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🤖 </a:t>
            </a:r>
            <a:r>
              <a:rPr lang="en-US" b="1" dirty="0">
                <a:solidFill>
                  <a:schemeClr val="tx1"/>
                </a:solidFill>
              </a:rPr>
              <a:t>Machine Learning Applications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ARIMA</a:t>
            </a:r>
            <a:r>
              <a:rPr lang="en-US" dirty="0">
                <a:solidFill>
                  <a:schemeClr val="tx1"/>
                </a:solidFill>
              </a:rPr>
              <a:t> to forecast monthly sales for the next 12 months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K-Means</a:t>
            </a:r>
            <a:r>
              <a:rPr lang="en-US" dirty="0">
                <a:solidFill>
                  <a:schemeClr val="tx1"/>
                </a:solidFill>
              </a:rPr>
              <a:t> to segment customers into 4 behavioral clusters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/>
        </p:nvSpPr>
        <p:spPr>
          <a:xfrm>
            <a:off x="50200" y="13566"/>
            <a:ext cx="9389097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2400" b="1" dirty="0">
                <a:solidFill>
                  <a:schemeClr val="dk1"/>
                </a:solidFill>
                <a:latin typeface="Merriweather"/>
              </a:rPr>
              <a:t>WHERE + WHEN Did the Insights Occur</a:t>
            </a:r>
            <a:r>
              <a:rPr lang="en-US" sz="2800" dirty="0">
                <a:solidFill>
                  <a:schemeClr val="tx1"/>
                </a:solidFill>
              </a:rPr>
              <a:t>?</a:t>
            </a:r>
            <a:endParaRPr sz="2500" b="1" dirty="0">
              <a:solidFill>
                <a:schemeClr val="tx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2" name="Picture 1" descr="A red sign with white text&#10;&#10;Description automatically generated">
            <a:extLst>
              <a:ext uri="{FF2B5EF4-FFF2-40B4-BE49-F238E27FC236}">
                <a16:creationId xmlns:a16="http://schemas.microsoft.com/office/drawing/2014/main" id="{5CFC82A0-9089-BB5A-9B55-E8934D1D19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821" y="77484"/>
            <a:ext cx="745979" cy="3399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3CAC4E-C0EC-E78F-FB35-BB8E4D50C7DF}"/>
              </a:ext>
            </a:extLst>
          </p:cNvPr>
          <p:cNvSpPr txBox="1"/>
          <p:nvPr/>
        </p:nvSpPr>
        <p:spPr>
          <a:xfrm>
            <a:off x="1932496" y="1065229"/>
            <a:ext cx="5951378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📍 WHERE: Across Northwind’s Sales Ecosystem</a:t>
            </a:r>
          </a:p>
          <a:p>
            <a:endParaRPr lang="en-US" b="1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Wingdings" pitchFamily="2" charset="2"/>
              <a:buChar char="v"/>
            </a:pPr>
            <a:r>
              <a:rPr lang="en-US" b="1" dirty="0">
                <a:solidFill>
                  <a:schemeClr val="tx1"/>
                </a:solidFill>
              </a:rPr>
              <a:t>Database Source</a:t>
            </a:r>
            <a:r>
              <a:rPr lang="en-US" dirty="0">
                <a:solidFill>
                  <a:schemeClr val="tx1"/>
                </a:solidFill>
              </a:rPr>
              <a:t>: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All data was extracted from </a:t>
            </a:r>
            <a:r>
              <a:rPr lang="en-US" i="1" dirty="0">
                <a:solidFill>
                  <a:schemeClr val="tx1"/>
                </a:solidFill>
              </a:rPr>
              <a:t>Northwind’s SQLite relational database</a:t>
            </a:r>
            <a:r>
              <a:rPr lang="en-US" dirty="0">
                <a:solidFill>
                  <a:schemeClr val="tx1"/>
                </a:solidFill>
              </a:rPr>
              <a:t>, spanning orders, customers, employees, products, and order details.</a:t>
            </a:r>
          </a:p>
          <a:p>
            <a:pPr marL="285750" indent="-285750">
              <a:buFont typeface="Wingdings" pitchFamily="2" charset="2"/>
              <a:buChar char="v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Wingdings" pitchFamily="2" charset="2"/>
              <a:buChar char="v"/>
            </a:pPr>
            <a:r>
              <a:rPr lang="en-US" b="1" dirty="0">
                <a:solidFill>
                  <a:schemeClr val="tx1"/>
                </a:solidFill>
              </a:rPr>
              <a:t>Organizational Scope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🌎 </a:t>
            </a:r>
            <a:r>
              <a:rPr lang="en-US" i="1" dirty="0">
                <a:solidFill>
                  <a:schemeClr val="tx1"/>
                </a:solidFill>
              </a:rPr>
              <a:t>Regional operations</a:t>
            </a:r>
            <a:r>
              <a:rPr lang="en-US" dirty="0">
                <a:solidFill>
                  <a:schemeClr val="tx1"/>
                </a:solidFill>
              </a:rPr>
              <a:t> for employee and product performance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🏬 </a:t>
            </a:r>
            <a:r>
              <a:rPr lang="en-US" i="1" dirty="0">
                <a:solidFill>
                  <a:schemeClr val="tx1"/>
                </a:solidFill>
              </a:rPr>
              <a:t>E-commerce platform</a:t>
            </a:r>
            <a:r>
              <a:rPr lang="en-US" dirty="0">
                <a:solidFill>
                  <a:schemeClr val="tx1"/>
                </a:solidFill>
              </a:rPr>
              <a:t> for customer behavior and personalization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🧾 </a:t>
            </a:r>
            <a:r>
              <a:rPr lang="en-US" i="1" dirty="0">
                <a:solidFill>
                  <a:schemeClr val="tx1"/>
                </a:solidFill>
              </a:rPr>
              <a:t>Order management system</a:t>
            </a:r>
            <a:r>
              <a:rPr lang="en-US" dirty="0">
                <a:solidFill>
                  <a:schemeClr val="tx1"/>
                </a:solidFill>
              </a:rPr>
              <a:t> for forecasting and segmentation</a:t>
            </a:r>
          </a:p>
          <a:p>
            <a:endParaRPr lang="en-US" dirty="0"/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9583DD0C-F377-2E4E-2935-D99739A8F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>
            <a:extLst>
              <a:ext uri="{FF2B5EF4-FFF2-40B4-BE49-F238E27FC236}">
                <a16:creationId xmlns:a16="http://schemas.microsoft.com/office/drawing/2014/main" id="{320DFDC2-D8A3-7C0D-E648-7E2537AC89CF}"/>
              </a:ext>
            </a:extLst>
          </p:cNvPr>
          <p:cNvSpPr txBox="1"/>
          <p:nvPr/>
        </p:nvSpPr>
        <p:spPr>
          <a:xfrm>
            <a:off x="0" y="58927"/>
            <a:ext cx="2007909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WHEN ?  </a:t>
            </a:r>
            <a:endParaRPr sz="2500" b="1" dirty="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2" name="Picture 1" descr="A red sign with white text&#10;&#10;Description automatically generated">
            <a:extLst>
              <a:ext uri="{FF2B5EF4-FFF2-40B4-BE49-F238E27FC236}">
                <a16:creationId xmlns:a16="http://schemas.microsoft.com/office/drawing/2014/main" id="{66B4599A-170B-3474-BEE0-7ABD552FA7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821" y="77484"/>
            <a:ext cx="745979" cy="3399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7AD6F60-91C3-70CE-1016-0B42023B10B7}"/>
              </a:ext>
            </a:extLst>
          </p:cNvPr>
          <p:cNvSpPr txBox="1"/>
          <p:nvPr/>
        </p:nvSpPr>
        <p:spPr>
          <a:xfrm>
            <a:off x="150829" y="687593"/>
            <a:ext cx="4298623" cy="2968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</a:rPr>
              <a:t>🕒 WHEN: 2012–2023 Sales Timeline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</a:rPr>
              <a:t>Date Range</a:t>
            </a:r>
            <a:r>
              <a:rPr lang="en-US" dirty="0">
                <a:solidFill>
                  <a:schemeClr val="tx1"/>
                </a:solidFill>
              </a:rPr>
              <a:t>: July 2012 → October 2023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</a:rPr>
              <a:t>Temporal Focus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✅ Monthly trends over 11 years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✅ Forecasts for the next 03 months (ARIMA)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✅ Recency analysis for customer segmentation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</a:rPr>
              <a:t>Key Seasonal Insights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📈 Peaks: March, July, and December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📉 Dips: February and October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5C832A3-CBBA-B9CD-9919-0063C02017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4550" y="235434"/>
            <a:ext cx="3384221" cy="3409603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28CF339-416B-D7D3-C28F-27E9EC0EEF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599" y="4003747"/>
            <a:ext cx="4123082" cy="904319"/>
          </a:xfrm>
          <a:prstGeom prst="rect">
            <a:avLst/>
          </a:prstGeom>
        </p:spPr>
      </p:pic>
      <p:pic>
        <p:nvPicPr>
          <p:cNvPr id="9" name="Picture 8" descr="A screenshot of a black and white screen&#10;&#10;AI-generated content may be incorrect.">
            <a:extLst>
              <a:ext uri="{FF2B5EF4-FFF2-40B4-BE49-F238E27FC236}">
                <a16:creationId xmlns:a16="http://schemas.microsoft.com/office/drawing/2014/main" id="{CACC1BC6-C1B5-1DC2-1EA7-89A6A93C35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7632" y="3864990"/>
            <a:ext cx="3659040" cy="1043076"/>
          </a:xfrm>
          <a:prstGeom prst="rect">
            <a:avLst/>
          </a:prstGeom>
        </p:spPr>
      </p:pic>
      <p:pic>
        <p:nvPicPr>
          <p:cNvPr id="11" name="Picture 10" descr="A graph with orange and blue lines&#10;&#10;AI-generated content may be incorrect.">
            <a:extLst>
              <a:ext uri="{FF2B5EF4-FFF2-40B4-BE49-F238E27FC236}">
                <a16:creationId xmlns:a16="http://schemas.microsoft.com/office/drawing/2014/main" id="{1403AE14-5FF1-6744-B444-835192D3DE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6061" y="764643"/>
            <a:ext cx="8791877" cy="1900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852756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9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900" decel="100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9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3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6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9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CB03CDC5-0CBF-8E8D-DF89-2FF839F04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>
            <a:extLst>
              <a:ext uri="{FF2B5EF4-FFF2-40B4-BE49-F238E27FC236}">
                <a16:creationId xmlns:a16="http://schemas.microsoft.com/office/drawing/2014/main" id="{B656FB50-615F-3F5D-5DEF-1B2E610A62A3}"/>
              </a:ext>
            </a:extLst>
          </p:cNvPr>
          <p:cNvSpPr txBox="1"/>
          <p:nvPr/>
        </p:nvSpPr>
        <p:spPr>
          <a:xfrm>
            <a:off x="2941163" y="426"/>
            <a:ext cx="3261674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WHY it matters ?  </a:t>
            </a:r>
            <a:endParaRPr sz="2500" b="1" dirty="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2" name="Picture 1" descr="A red sign with white text&#10;&#10;Description automatically generated">
            <a:extLst>
              <a:ext uri="{FF2B5EF4-FFF2-40B4-BE49-F238E27FC236}">
                <a16:creationId xmlns:a16="http://schemas.microsoft.com/office/drawing/2014/main" id="{041802C5-16E0-0D7F-F1E0-16CAFF0B12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821" y="77484"/>
            <a:ext cx="745979" cy="33995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525F27D-9AFA-5F0C-E2CD-3271882A2A8D}"/>
              </a:ext>
            </a:extLst>
          </p:cNvPr>
          <p:cNvSpPr txBox="1"/>
          <p:nvPr/>
        </p:nvSpPr>
        <p:spPr>
          <a:xfrm>
            <a:off x="2055043" y="489314"/>
            <a:ext cx="6193411" cy="4576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✅ Drive Revenue with Data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i="1" dirty="0">
                <a:solidFill>
                  <a:schemeClr val="tx1"/>
                </a:solidFill>
              </a:rPr>
              <a:t>→ Align campaigns with seasonal patterns and sales forecasts.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✅ Serve the Right Customer, the Right Way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i="1" dirty="0">
                <a:solidFill>
                  <a:schemeClr val="tx1"/>
                </a:solidFill>
              </a:rPr>
              <a:t>→ Segment-based outreach: Champions, Potentials, Newcomers, At-Risk.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✅ Boost Marketing ROI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i="1" dirty="0">
                <a:solidFill>
                  <a:schemeClr val="tx1"/>
                </a:solidFill>
              </a:rPr>
              <a:t>→ Promote during high-performing periods to maximize efficiency.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✅ Inventory Meets Intelligence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i="1" dirty="0">
                <a:solidFill>
                  <a:schemeClr val="tx1"/>
                </a:solidFill>
              </a:rPr>
              <a:t>→ Stock what sells. Bundle what lags. Plan smarter.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✅ Real-Time Decision Support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i="1" dirty="0">
                <a:solidFill>
                  <a:schemeClr val="tx1"/>
                </a:solidFill>
              </a:rPr>
              <a:t>→ SQL + Python + ML = fast, informed, and flexible strategy.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3058464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AD319072-91B4-0B7A-A573-60CEC4ADE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red sign with white text&#10;&#10;Description automatically generated">
            <a:extLst>
              <a:ext uri="{FF2B5EF4-FFF2-40B4-BE49-F238E27FC236}">
                <a16:creationId xmlns:a16="http://schemas.microsoft.com/office/drawing/2014/main" id="{746DDD1F-31BA-E1B3-EB72-6BFBE0E1A4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821" y="77484"/>
            <a:ext cx="745979" cy="3399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B69A3AB-C872-6F89-2797-55ECF5FE61A3}"/>
              </a:ext>
            </a:extLst>
          </p:cNvPr>
          <p:cNvSpPr txBox="1"/>
          <p:nvPr/>
        </p:nvSpPr>
        <p:spPr>
          <a:xfrm>
            <a:off x="484219" y="1150070"/>
            <a:ext cx="3751868" cy="2529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🔴 Challenges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Seasonal demand is difficult to predict, leading to missed promotional opportunities.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Campaigns are launched reactively, not proactively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No clear system to prioritize SKUs for discounting or bundling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571A54-5905-9E43-9194-DA0D21ECB6AA}"/>
              </a:ext>
            </a:extLst>
          </p:cNvPr>
          <p:cNvSpPr txBox="1"/>
          <p:nvPr/>
        </p:nvSpPr>
        <p:spPr>
          <a:xfrm>
            <a:off x="4978616" y="999242"/>
            <a:ext cx="3751868" cy="3607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</a:rPr>
              <a:t>🟢 Data-Driven Solutions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q"/>
            </a:pPr>
            <a:r>
              <a:rPr lang="en-US" b="1" dirty="0">
                <a:solidFill>
                  <a:schemeClr val="tx1"/>
                </a:solidFill>
              </a:rPr>
              <a:t>ARIMA forecasting</a:t>
            </a:r>
            <a:r>
              <a:rPr lang="en-US" dirty="0">
                <a:solidFill>
                  <a:schemeClr val="tx1"/>
                </a:solidFill>
              </a:rPr>
              <a:t> in Part 5 uncovers future peaks and variability windows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q"/>
            </a:pPr>
            <a:r>
              <a:rPr lang="en-US" b="1" dirty="0">
                <a:solidFill>
                  <a:schemeClr val="tx1"/>
                </a:solidFill>
              </a:rPr>
              <a:t>Monthly sales trends</a:t>
            </a:r>
            <a:r>
              <a:rPr lang="en-US" dirty="0">
                <a:solidFill>
                  <a:schemeClr val="tx1"/>
                </a:solidFill>
              </a:rPr>
              <a:t> in Part 2 highlight March, July, and December as high-impact months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q"/>
            </a:pPr>
            <a:r>
              <a:rPr lang="en-US" b="1" dirty="0">
                <a:solidFill>
                  <a:schemeClr val="tx1"/>
                </a:solidFill>
              </a:rPr>
              <a:t>Product rankings by category</a:t>
            </a:r>
            <a:r>
              <a:rPr lang="en-US" dirty="0">
                <a:solidFill>
                  <a:schemeClr val="tx1"/>
                </a:solidFill>
              </a:rPr>
              <a:t> in Part 3 help determine which SKUs to push and which to pair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Insights translate into a promotional calendar backed by real data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7D729D-A9D1-10A5-75FE-6B3C0623FF83}"/>
              </a:ext>
            </a:extLst>
          </p:cNvPr>
          <p:cNvSpPr txBox="1"/>
          <p:nvPr/>
        </p:nvSpPr>
        <p:spPr>
          <a:xfrm>
            <a:off x="2000671" y="298525"/>
            <a:ext cx="527682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chemeClr val="dk1"/>
                </a:solidFill>
                <a:latin typeface="Merriweather"/>
                <a:ea typeface="Merriweather"/>
                <a:cs typeface="Merriweather"/>
              </a:rPr>
              <a:t>Marketing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sz="2500" b="1" dirty="0">
                <a:solidFill>
                  <a:schemeClr val="dk1"/>
                </a:solidFill>
                <a:latin typeface="Merriweather"/>
              </a:rPr>
              <a:t>Campaign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sz="2500" b="1" dirty="0">
                <a:solidFill>
                  <a:schemeClr val="dk1"/>
                </a:solidFill>
                <a:latin typeface="Merriweather"/>
              </a:rPr>
              <a:t>Strategist</a:t>
            </a:r>
          </a:p>
        </p:txBody>
      </p:sp>
    </p:spTree>
    <p:extLst>
      <p:ext uri="{BB962C8B-B14F-4D97-AF65-F5344CB8AC3E}">
        <p14:creationId xmlns:p14="http://schemas.microsoft.com/office/powerpoint/2010/main" val="3414884301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25C8B8EB-230C-73CE-5690-5C05B2207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red sign with white text&#10;&#10;Description automatically generated">
            <a:extLst>
              <a:ext uri="{FF2B5EF4-FFF2-40B4-BE49-F238E27FC236}">
                <a16:creationId xmlns:a16="http://schemas.microsoft.com/office/drawing/2014/main" id="{C88FD43E-35F2-EB6C-1BD2-CFD7414D39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821" y="77484"/>
            <a:ext cx="745979" cy="3399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230B4D1-59FB-5D1D-40CF-635AE5E187C3}"/>
              </a:ext>
            </a:extLst>
          </p:cNvPr>
          <p:cNvSpPr txBox="1"/>
          <p:nvPr/>
        </p:nvSpPr>
        <p:spPr>
          <a:xfrm>
            <a:off x="413516" y="1065686"/>
            <a:ext cx="3751868" cy="2314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</a:rPr>
              <a:t>🔴 Challenges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Limited ability to personalize offers by behavior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Hard to distinguish VIPs from one-time buyers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No clear segmentation for targeting re-engagement or loyalty programs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EB5D36-98DD-D36E-8C00-C3321AC53BE6}"/>
              </a:ext>
            </a:extLst>
          </p:cNvPr>
          <p:cNvSpPr txBox="1"/>
          <p:nvPr/>
        </p:nvSpPr>
        <p:spPr>
          <a:xfrm>
            <a:off x="4978616" y="999242"/>
            <a:ext cx="3751868" cy="3607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</a:rPr>
              <a:t>🟢 Data-Driven Solutions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ü"/>
            </a:pPr>
            <a:r>
              <a:rPr lang="en-US" b="1" dirty="0">
                <a:solidFill>
                  <a:schemeClr val="tx1"/>
                </a:solidFill>
              </a:rPr>
              <a:t>Average Order Value rankings</a:t>
            </a:r>
            <a:r>
              <a:rPr lang="en-US" dirty="0">
                <a:solidFill>
                  <a:schemeClr val="tx1"/>
                </a:solidFill>
              </a:rPr>
              <a:t> isolate top spenders from mid-tier customers.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ü"/>
            </a:pPr>
            <a:r>
              <a:rPr lang="en-US" b="1" dirty="0">
                <a:solidFill>
                  <a:schemeClr val="tx1"/>
                </a:solidFill>
              </a:rPr>
              <a:t>K-Means Clustering using RFM</a:t>
            </a:r>
            <a:r>
              <a:rPr lang="en-US" dirty="0">
                <a:solidFill>
                  <a:schemeClr val="tx1"/>
                </a:solidFill>
              </a:rPr>
              <a:t> produces 4 distinct personas: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→ </a:t>
            </a:r>
            <a:r>
              <a:rPr lang="en-US" i="1" dirty="0">
                <a:solidFill>
                  <a:schemeClr val="tx1"/>
                </a:solidFill>
              </a:rPr>
              <a:t>Champions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i="1" dirty="0">
                <a:solidFill>
                  <a:schemeClr val="tx1"/>
                </a:solidFill>
              </a:rPr>
              <a:t>Loyal Potentials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i="1" dirty="0">
                <a:solidFill>
                  <a:schemeClr val="tx1"/>
                </a:solidFill>
              </a:rPr>
              <a:t>New Arrivals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i="1" dirty="0">
                <a:solidFill>
                  <a:schemeClr val="tx1"/>
                </a:solidFill>
              </a:rPr>
              <a:t>At-Risk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ü"/>
            </a:pPr>
            <a:r>
              <a:rPr lang="en-US" b="1" dirty="0">
                <a:solidFill>
                  <a:schemeClr val="tx1"/>
                </a:solidFill>
              </a:rPr>
              <a:t>PCA + scatterplots</a:t>
            </a:r>
            <a:r>
              <a:rPr lang="en-US" dirty="0">
                <a:solidFill>
                  <a:schemeClr val="tx1"/>
                </a:solidFill>
              </a:rPr>
              <a:t> reveal actionable groupings for campaign design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Every customer can now be addressed with a tailored communication strategy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C14234-2604-86AF-6D23-701194F20ABB}"/>
              </a:ext>
            </a:extLst>
          </p:cNvPr>
          <p:cNvSpPr txBox="1"/>
          <p:nvPr/>
        </p:nvSpPr>
        <p:spPr>
          <a:xfrm>
            <a:off x="1545996" y="185123"/>
            <a:ext cx="577863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chemeClr val="dk1"/>
                </a:solidFill>
                <a:latin typeface="Merriweather"/>
                <a:ea typeface="Merriweather"/>
                <a:cs typeface="Merriweather"/>
              </a:rPr>
              <a:t>E-commerce Personalization Lead</a:t>
            </a:r>
          </a:p>
        </p:txBody>
      </p:sp>
    </p:spTree>
    <p:extLst>
      <p:ext uri="{BB962C8B-B14F-4D97-AF65-F5344CB8AC3E}">
        <p14:creationId xmlns:p14="http://schemas.microsoft.com/office/powerpoint/2010/main" val="3050589582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00C3FC80-07A4-7534-2BE1-676E91881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>
            <a:extLst>
              <a:ext uri="{FF2B5EF4-FFF2-40B4-BE49-F238E27FC236}">
                <a16:creationId xmlns:a16="http://schemas.microsoft.com/office/drawing/2014/main" id="{983B8D31-84E4-3590-6019-05B133A540A5}"/>
              </a:ext>
            </a:extLst>
          </p:cNvPr>
          <p:cNvSpPr txBox="1"/>
          <p:nvPr/>
        </p:nvSpPr>
        <p:spPr>
          <a:xfrm>
            <a:off x="50200" y="77484"/>
            <a:ext cx="2724346" cy="488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Font typeface="Arial"/>
              <a:buNone/>
            </a:pPr>
            <a:r>
              <a:rPr lang="en" sz="2500" b="1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Key Insights ?  </a:t>
            </a:r>
            <a:endParaRPr sz="2500" b="1" dirty="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2" name="Picture 1" descr="A red sign with white text&#10;&#10;Description automatically generated">
            <a:extLst>
              <a:ext uri="{FF2B5EF4-FFF2-40B4-BE49-F238E27FC236}">
                <a16:creationId xmlns:a16="http://schemas.microsoft.com/office/drawing/2014/main" id="{F6AA9967-1590-8EE0-4DBE-2CF724DB46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821" y="77484"/>
            <a:ext cx="745979" cy="3399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AF9A77-71F7-DD1D-0CE0-EF582547E655}"/>
              </a:ext>
            </a:extLst>
          </p:cNvPr>
          <p:cNvSpPr txBox="1"/>
          <p:nvPr/>
        </p:nvSpPr>
        <p:spPr>
          <a:xfrm>
            <a:off x="55759" y="713773"/>
            <a:ext cx="25075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📈 </a:t>
            </a:r>
            <a:r>
              <a:rPr lang="en-US" b="1" dirty="0">
                <a:solidFill>
                  <a:schemeClr val="tx1"/>
                </a:solidFill>
              </a:rPr>
              <a:t>Sales Forecast (ARIMA)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 descr="A graph showing a line of blue lines&#10;&#10;AI-generated content may be incorrect.">
            <a:extLst>
              <a:ext uri="{FF2B5EF4-FFF2-40B4-BE49-F238E27FC236}">
                <a16:creationId xmlns:a16="http://schemas.microsoft.com/office/drawing/2014/main" id="{BAFF58CC-4454-0137-2588-1D16FA51A7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3289" y="565608"/>
            <a:ext cx="6530511" cy="32404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B0FD171-0412-908F-9CD5-D7A6920333D8}"/>
              </a:ext>
            </a:extLst>
          </p:cNvPr>
          <p:cNvSpPr txBox="1"/>
          <p:nvPr/>
        </p:nvSpPr>
        <p:spPr>
          <a:xfrm>
            <a:off x="50200" y="1234911"/>
            <a:ext cx="25130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🔢 </a:t>
            </a:r>
            <a:r>
              <a:rPr lang="en-US" sz="1200" b="1" dirty="0">
                <a:solidFill>
                  <a:schemeClr val="tx1"/>
                </a:solidFill>
              </a:rPr>
              <a:t>Employee Leaderboard Bar Chart</a:t>
            </a:r>
            <a:endParaRPr lang="en-US" sz="1200" dirty="0">
              <a:solidFill>
                <a:schemeClr val="tx1"/>
              </a:solidFill>
            </a:endParaRPr>
          </a:p>
        </p:txBody>
      </p:sp>
      <p:pic>
        <p:nvPicPr>
          <p:cNvPr id="8" name="Picture 7" descr="A colorful rectangular object with text&#10;&#10;AI-generated content may be incorrect.">
            <a:extLst>
              <a:ext uri="{FF2B5EF4-FFF2-40B4-BE49-F238E27FC236}">
                <a16:creationId xmlns:a16="http://schemas.microsoft.com/office/drawing/2014/main" id="{61C1D642-9FDA-9290-B433-1A768ABB86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202" y="1844741"/>
            <a:ext cx="8269608" cy="166508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94323AE-E197-2D31-8642-CC086ED1325E}"/>
              </a:ext>
            </a:extLst>
          </p:cNvPr>
          <p:cNvSpPr txBox="1"/>
          <p:nvPr/>
        </p:nvSpPr>
        <p:spPr>
          <a:xfrm>
            <a:off x="78212" y="2403835"/>
            <a:ext cx="26963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📊 </a:t>
            </a:r>
            <a:r>
              <a:rPr lang="en-US" b="1" dirty="0">
                <a:solidFill>
                  <a:schemeClr val="tx1"/>
                </a:solidFill>
              </a:rPr>
              <a:t>Product Sales by Category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1" name="Picture 10" descr="A white rectangular object with a purple border&#10;&#10;AI-generated content may be incorrect.">
            <a:extLst>
              <a:ext uri="{FF2B5EF4-FFF2-40B4-BE49-F238E27FC236}">
                <a16:creationId xmlns:a16="http://schemas.microsoft.com/office/drawing/2014/main" id="{E2ADC09D-62ED-2C84-3DC3-ACB6F8F5AE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400" y="2816204"/>
            <a:ext cx="9043600" cy="1548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278902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2"/>
      <p:bldP spid="6" grpId="0"/>
      <p:bldP spid="6" grpId="1"/>
      <p:bldP spid="9" grpId="0"/>
      <p:bldP spid="9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866158D1-DED8-52B7-A2D3-8B4149517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>
            <a:extLst>
              <a:ext uri="{FF2B5EF4-FFF2-40B4-BE49-F238E27FC236}">
                <a16:creationId xmlns:a16="http://schemas.microsoft.com/office/drawing/2014/main" id="{BF1DBE90-E652-0651-B22E-E34C7614A640}"/>
              </a:ext>
            </a:extLst>
          </p:cNvPr>
          <p:cNvSpPr txBox="1"/>
          <p:nvPr/>
        </p:nvSpPr>
        <p:spPr>
          <a:xfrm>
            <a:off x="-631596" y="98541"/>
            <a:ext cx="45720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dirty="0">
                <a:solidFill>
                  <a:schemeClr val="tx1"/>
                </a:solidFill>
              </a:rPr>
              <a:t>🎯 </a:t>
            </a:r>
            <a:r>
              <a:rPr lang="en-US" b="1" dirty="0">
                <a:solidFill>
                  <a:schemeClr val="tx1"/>
                </a:solidFill>
              </a:rPr>
              <a:t>Violin Plot – Avg Order Value</a:t>
            </a:r>
            <a:endParaRPr b="1" dirty="0">
              <a:solidFill>
                <a:schemeClr val="tx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2" name="Picture 1" descr="A red sign with white text&#10;&#10;Description automatically generated">
            <a:extLst>
              <a:ext uri="{FF2B5EF4-FFF2-40B4-BE49-F238E27FC236}">
                <a16:creationId xmlns:a16="http://schemas.microsoft.com/office/drawing/2014/main" id="{EB90B5B1-A877-E6C9-8E08-73DC576133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821" y="77484"/>
            <a:ext cx="745979" cy="339959"/>
          </a:xfrm>
          <a:prstGeom prst="rect">
            <a:avLst/>
          </a:prstGeom>
        </p:spPr>
      </p:pic>
      <p:pic>
        <p:nvPicPr>
          <p:cNvPr id="4" name="Picture 3" descr="A screenshot of a chat&#10;&#10;AI-generated content may be incorrect.">
            <a:extLst>
              <a:ext uri="{FF2B5EF4-FFF2-40B4-BE49-F238E27FC236}">
                <a16:creationId xmlns:a16="http://schemas.microsoft.com/office/drawing/2014/main" id="{141F7AB5-F17C-0254-85ED-7B2B7A638A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19" y="525156"/>
            <a:ext cx="9085381" cy="19429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E5B669-7F14-3B2D-D963-64533BA121DD}"/>
              </a:ext>
            </a:extLst>
          </p:cNvPr>
          <p:cNvSpPr txBox="1"/>
          <p:nvPr/>
        </p:nvSpPr>
        <p:spPr>
          <a:xfrm>
            <a:off x="216817" y="627647"/>
            <a:ext cx="35067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🧬 </a:t>
            </a:r>
            <a:r>
              <a:rPr lang="en-US" b="1" dirty="0">
                <a:solidFill>
                  <a:schemeClr val="tx1"/>
                </a:solidFill>
              </a:rPr>
              <a:t>K-Means Clustering (PCA)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Picture 6" descr="A graph with many dots&#10;&#10;AI-generated content may be incorrect.">
            <a:extLst>
              <a:ext uri="{FF2B5EF4-FFF2-40B4-BE49-F238E27FC236}">
                <a16:creationId xmlns:a16="http://schemas.microsoft.com/office/drawing/2014/main" id="{D21E4EE4-3118-D7A9-2422-D77D0E064D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19" y="992528"/>
            <a:ext cx="9093800" cy="1765895"/>
          </a:xfrm>
          <a:prstGeom prst="rect">
            <a:avLst/>
          </a:prstGeom>
        </p:spPr>
      </p:pic>
      <p:pic>
        <p:nvPicPr>
          <p:cNvPr id="9" name="Picture 8" descr="A screenshot of a graph&#10;&#10;AI-generated content may be incorrect.">
            <a:extLst>
              <a:ext uri="{FF2B5EF4-FFF2-40B4-BE49-F238E27FC236}">
                <a16:creationId xmlns:a16="http://schemas.microsoft.com/office/drawing/2014/main" id="{B4D73DB2-47CD-28D7-79EB-4142D7ECDC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44845" y="3408170"/>
            <a:ext cx="4086117" cy="1210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695068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 build="allAtOnce"/>
      <p:bldP spid="5" grpId="0"/>
      <p:bldP spid="5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044DFFDB-C1AB-9232-B1CE-5CAD9EC84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>
            <a:extLst>
              <a:ext uri="{FF2B5EF4-FFF2-40B4-BE49-F238E27FC236}">
                <a16:creationId xmlns:a16="http://schemas.microsoft.com/office/drawing/2014/main" id="{99B66222-9C27-C633-8FF6-99424A600902}"/>
              </a:ext>
            </a:extLst>
          </p:cNvPr>
          <p:cNvSpPr txBox="1"/>
          <p:nvPr/>
        </p:nvSpPr>
        <p:spPr>
          <a:xfrm>
            <a:off x="2285999" y="32420"/>
            <a:ext cx="4227922" cy="417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 sz="2500" b="1" dirty="0">
                <a:solidFill>
                  <a:schemeClr val="dk1"/>
                </a:solidFill>
                <a:latin typeface="Merriweather"/>
                <a:ea typeface="Merriweather"/>
                <a:cs typeface="Merriweather"/>
              </a:rPr>
              <a:t>Recommendations</a:t>
            </a:r>
            <a:endParaRPr dirty="0">
              <a:sym typeface="Merriweather"/>
            </a:endParaRPr>
          </a:p>
        </p:txBody>
      </p:sp>
      <p:pic>
        <p:nvPicPr>
          <p:cNvPr id="2" name="Picture 1" descr="A red sign with white text&#10;&#10;Description automatically generated">
            <a:extLst>
              <a:ext uri="{FF2B5EF4-FFF2-40B4-BE49-F238E27FC236}">
                <a16:creationId xmlns:a16="http://schemas.microsoft.com/office/drawing/2014/main" id="{80106CD4-D643-6033-06C7-EC6E281E99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821" y="77484"/>
            <a:ext cx="745979" cy="3399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58E0A31-EE2D-89E4-EB7C-C23A51C990BA}"/>
              </a:ext>
            </a:extLst>
          </p:cNvPr>
          <p:cNvSpPr txBox="1"/>
          <p:nvPr/>
        </p:nvSpPr>
        <p:spPr>
          <a:xfrm>
            <a:off x="0" y="938514"/>
            <a:ext cx="4572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📌 Data-Backed Campaign Timing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Leverage ARIMA forecasts to lock Q1–Q2 sales targets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Align promotions with historical peaks in March, July, December</a:t>
            </a:r>
          </a:p>
          <a:p>
            <a:r>
              <a:rPr lang="en-US" b="1" dirty="0">
                <a:solidFill>
                  <a:schemeClr val="tx1"/>
                </a:solidFill>
              </a:rPr>
              <a:t>📌 Promote What Works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Prioritize top SKUs like Ipoh Coffee and Northwoods Cranberry Sauce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Bundle high-performers with slower-moving items</a:t>
            </a:r>
          </a:p>
          <a:p>
            <a:r>
              <a:rPr lang="en-US" b="1" dirty="0">
                <a:solidFill>
                  <a:schemeClr val="tx1"/>
                </a:solidFill>
              </a:rPr>
              <a:t>📌 Avoid Revenue Gaps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Plan flash sales in low-performing months (e.g., February, October)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Use violin-plot segments to time promos for mid-tier spenders</a:t>
            </a:r>
          </a:p>
          <a:p>
            <a:r>
              <a:rPr lang="en-US" b="1" dirty="0">
                <a:solidFill>
                  <a:schemeClr val="tx1"/>
                </a:solidFill>
              </a:rPr>
              <a:t>📌 Stay Agile with Dashboards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Use interactive visuals to explore "what-if" scenarios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Monitor real-time campaign performance and adjust in-flight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53FBB5-8F75-6DDB-41C2-16D8858023C6}"/>
              </a:ext>
            </a:extLst>
          </p:cNvPr>
          <p:cNvSpPr txBox="1"/>
          <p:nvPr/>
        </p:nvSpPr>
        <p:spPr>
          <a:xfrm>
            <a:off x="4666267" y="867267"/>
            <a:ext cx="4572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📌 Segment Customers with Precision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Use K-Means personas: Champions, Loyal Potentials, New Arrivals, At-Risk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Deploy tailored messaging by cluster</a:t>
            </a:r>
          </a:p>
          <a:p>
            <a:r>
              <a:rPr lang="en-US" b="1" dirty="0">
                <a:solidFill>
                  <a:schemeClr val="tx1"/>
                </a:solidFill>
              </a:rPr>
              <a:t>📌 Personalize the Experience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Offer VIP perks and previews for Champions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Create frequency incentives for Loyal Potentials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Onboard New Arrivals with curated guides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Launch win-back campaigns for At-Risk users</a:t>
            </a:r>
          </a:p>
          <a:p>
            <a:r>
              <a:rPr lang="en-US" b="1" dirty="0">
                <a:solidFill>
                  <a:schemeClr val="tx1"/>
                </a:solidFill>
              </a:rPr>
              <a:t>📌 Use Behavior to Drive Revenue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Leverage average order values to identify upsell targets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A/B test offers per cluster to maximize conversion</a:t>
            </a:r>
          </a:p>
          <a:p>
            <a:r>
              <a:rPr lang="en-US" b="1" dirty="0">
                <a:solidFill>
                  <a:schemeClr val="tx1"/>
                </a:solidFill>
              </a:rPr>
              <a:t>📌 Integrate Seamlessly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Connect clustering output to recommendation engines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Feedback engagement data for continuous model training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8279CD-E0BB-2989-79FD-ED82AA3C7B15}"/>
              </a:ext>
            </a:extLst>
          </p:cNvPr>
          <p:cNvSpPr txBox="1"/>
          <p:nvPr/>
        </p:nvSpPr>
        <p:spPr>
          <a:xfrm>
            <a:off x="871978" y="540298"/>
            <a:ext cx="28280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Marketing Campaign Strategist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7FE5DA-B6ED-1E28-E53A-5677C206124D}"/>
              </a:ext>
            </a:extLst>
          </p:cNvPr>
          <p:cNvSpPr txBox="1"/>
          <p:nvPr/>
        </p:nvSpPr>
        <p:spPr>
          <a:xfrm>
            <a:off x="5260157" y="540299"/>
            <a:ext cx="30876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E-commerce Personalization Lead</a:t>
            </a:r>
          </a:p>
        </p:txBody>
      </p:sp>
    </p:spTree>
    <p:extLst>
      <p:ext uri="{BB962C8B-B14F-4D97-AF65-F5344CB8AC3E}">
        <p14:creationId xmlns:p14="http://schemas.microsoft.com/office/powerpoint/2010/main" val="216933103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 build="allAtOnce"/>
      <p:bldP spid="3" grpId="0"/>
      <p:bldP spid="6" grpId="0"/>
      <p:bldP spid="8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/>
        </p:nvSpPr>
        <p:spPr>
          <a:xfrm>
            <a:off x="2286000" y="27378"/>
            <a:ext cx="45720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FUTURE OPPORTUNITIES</a:t>
            </a:r>
            <a:endParaRPr sz="2400" b="1" dirty="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2" name="Picture 1" descr="A red sign with white text&#10;&#10;Description automatically generated">
            <a:extLst>
              <a:ext uri="{FF2B5EF4-FFF2-40B4-BE49-F238E27FC236}">
                <a16:creationId xmlns:a16="http://schemas.microsoft.com/office/drawing/2014/main" id="{D6805D12-DCBC-EB9C-0C11-CA2B246656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821" y="77484"/>
            <a:ext cx="745979" cy="3399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B02793C-80F2-067F-1733-E4941603776A}"/>
              </a:ext>
            </a:extLst>
          </p:cNvPr>
          <p:cNvSpPr txBox="1"/>
          <p:nvPr/>
        </p:nvSpPr>
        <p:spPr>
          <a:xfrm>
            <a:off x="1630837" y="541490"/>
            <a:ext cx="6867814" cy="4576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</a:rPr>
              <a:t>📌 Expand Predictive Modeling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Explore </a:t>
            </a:r>
            <a:r>
              <a:rPr lang="en-US" b="1" dirty="0">
                <a:solidFill>
                  <a:schemeClr val="tx1"/>
                </a:solidFill>
              </a:rPr>
              <a:t>Prophet</a:t>
            </a:r>
            <a:r>
              <a:rPr lang="en-US" dirty="0">
                <a:solidFill>
                  <a:schemeClr val="tx1"/>
                </a:solidFill>
              </a:rPr>
              <a:t> for multi-seasonal forecasting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Compare models (ARIMA vs. Prophet vs. ensemble)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</a:rPr>
              <a:t>📌 Dashboard Integration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Build real-time dashboards using </a:t>
            </a:r>
            <a:r>
              <a:rPr lang="en-US" b="1" dirty="0" err="1">
                <a:solidFill>
                  <a:schemeClr val="tx1"/>
                </a:solidFill>
              </a:rPr>
              <a:t>Plotly</a:t>
            </a:r>
            <a:r>
              <a:rPr lang="en-US" b="1" dirty="0">
                <a:solidFill>
                  <a:schemeClr val="tx1"/>
                </a:solidFill>
              </a:rPr>
              <a:t> Dash</a:t>
            </a:r>
            <a:r>
              <a:rPr lang="en-US" dirty="0">
                <a:solidFill>
                  <a:schemeClr val="tx1"/>
                </a:solidFill>
              </a:rPr>
              <a:t> or </a:t>
            </a:r>
            <a:r>
              <a:rPr lang="en-US" b="1" dirty="0" err="1">
                <a:solidFill>
                  <a:schemeClr val="tx1"/>
                </a:solidFill>
              </a:rPr>
              <a:t>Streamlit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Enable live filtering, drill-downs, and alert systems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</a:rPr>
              <a:t>📌 Personalization at Scale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Link clustering results with Northwind’s CRM/email engine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Implement automated A/B testing pipelines per customer group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</a:rPr>
              <a:t>📌 Recommendation Systems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Move toward </a:t>
            </a:r>
            <a:r>
              <a:rPr lang="en-US" b="1" dirty="0">
                <a:solidFill>
                  <a:schemeClr val="tx1"/>
                </a:solidFill>
              </a:rPr>
              <a:t>collaborative filtering</a:t>
            </a:r>
            <a:r>
              <a:rPr lang="en-US" dirty="0">
                <a:solidFill>
                  <a:schemeClr val="tx1"/>
                </a:solidFill>
              </a:rPr>
              <a:t> or content-based models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Suggest products dynamically based on past orders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</a:rPr>
              <a:t>📌 Business Rule Automation</a:t>
            </a:r>
            <a:endParaRPr lang="en-US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Translate data insights into rules for promotions, inventory, and customer loyalty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" grpId="0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Boston University's new data sciences building - BOStoday">
            <a:extLst>
              <a:ext uri="{FF2B5EF4-FFF2-40B4-BE49-F238E27FC236}">
                <a16:creationId xmlns:a16="http://schemas.microsoft.com/office/drawing/2014/main" id="{7886567A-7B06-232B-1BED-C2911205B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0"/>
            <a:ext cx="9136062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9" name="Google Shape;129;p21"/>
          <p:cNvSpPr txBox="1"/>
          <p:nvPr/>
        </p:nvSpPr>
        <p:spPr>
          <a:xfrm>
            <a:off x="-160255" y="2663046"/>
            <a:ext cx="2809188" cy="447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chemeClr val="tx1"/>
                </a:solidFill>
                <a:latin typeface="Merriweather"/>
                <a:ea typeface="Merriweather"/>
                <a:cs typeface="Merriweather"/>
                <a:sym typeface="Merriweather"/>
              </a:rPr>
              <a:t>THANK YOU &lt;3</a:t>
            </a:r>
            <a:endParaRPr sz="4000" b="1" dirty="0">
              <a:solidFill>
                <a:schemeClr val="tx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2" name="Picture 1" descr="A red sign with white text&#10;&#10;Description automatically generated">
            <a:extLst>
              <a:ext uri="{FF2B5EF4-FFF2-40B4-BE49-F238E27FC236}">
                <a16:creationId xmlns:a16="http://schemas.microsoft.com/office/drawing/2014/main" id="{398C312A-2BB5-661C-839B-76C3F624CA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821" y="77484"/>
            <a:ext cx="745979" cy="33995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8" presetClass="entr" presetSubtype="0" accel="5000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" grpId="0"/>
      <p:bldP spid="129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5">
          <a:extLst>
            <a:ext uri="{FF2B5EF4-FFF2-40B4-BE49-F238E27FC236}">
              <a16:creationId xmlns:a16="http://schemas.microsoft.com/office/drawing/2014/main" id="{EBDE03CD-35B8-0769-B086-89DB49746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>
            <a:extLst>
              <a:ext uri="{FF2B5EF4-FFF2-40B4-BE49-F238E27FC236}">
                <a16:creationId xmlns:a16="http://schemas.microsoft.com/office/drawing/2014/main" id="{F2C17F24-EC36-781B-0D47-9AE1B9962D7C}"/>
              </a:ext>
            </a:extLst>
          </p:cNvPr>
          <p:cNvSpPr txBox="1"/>
          <p:nvPr/>
        </p:nvSpPr>
        <p:spPr>
          <a:xfrm>
            <a:off x="-146230" y="-11308"/>
            <a:ext cx="2334781" cy="440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VIOLIN PLOT</a:t>
            </a:r>
            <a:endParaRPr sz="2000" b="1" dirty="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2" name="Picture 1" descr="A red sign with white text&#10;&#10;Description automatically generated">
            <a:extLst>
              <a:ext uri="{FF2B5EF4-FFF2-40B4-BE49-F238E27FC236}">
                <a16:creationId xmlns:a16="http://schemas.microsoft.com/office/drawing/2014/main" id="{C22B6899-4E7B-95EE-C4DE-C790349AED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821" y="77484"/>
            <a:ext cx="745979" cy="3399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B0C2FE-7497-5D0D-888B-E99C3A06D63D}"/>
              </a:ext>
            </a:extLst>
          </p:cNvPr>
          <p:cNvSpPr txBox="1"/>
          <p:nvPr/>
        </p:nvSpPr>
        <p:spPr>
          <a:xfrm>
            <a:off x="50200" y="2353393"/>
            <a:ext cx="1941922" cy="505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dk1"/>
                </a:solidFill>
                <a:latin typeface="Merriweather"/>
                <a:ea typeface="Merriweather"/>
                <a:cs typeface="Merriweather"/>
              </a:rPr>
              <a:t>BOX PLOT</a:t>
            </a:r>
          </a:p>
        </p:txBody>
      </p:sp>
      <p:pic>
        <p:nvPicPr>
          <p:cNvPr id="5" name="Picture 4" descr="A screenshot of a chat&#10;&#10;AI-generated content may be incorrect.">
            <a:extLst>
              <a:ext uri="{FF2B5EF4-FFF2-40B4-BE49-F238E27FC236}">
                <a16:creationId xmlns:a16="http://schemas.microsoft.com/office/drawing/2014/main" id="{9B8C428C-0D10-C5EC-389B-26D7DE4733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368" y="382101"/>
            <a:ext cx="8905264" cy="2078642"/>
          </a:xfrm>
          <a:prstGeom prst="rect">
            <a:avLst/>
          </a:prstGeom>
        </p:spPr>
      </p:pic>
      <p:pic>
        <p:nvPicPr>
          <p:cNvPr id="7" name="Picture 6" descr="A screenshot of a chat&#10;&#10;AI-generated content may be incorrect.">
            <a:extLst>
              <a:ext uri="{FF2B5EF4-FFF2-40B4-BE49-F238E27FC236}">
                <a16:creationId xmlns:a16="http://schemas.microsoft.com/office/drawing/2014/main" id="{72EB4BE1-A5E2-B6F8-DADF-E8ECB98F76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368" y="2858788"/>
            <a:ext cx="8905264" cy="2207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026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" grpId="0"/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5">
          <a:extLst>
            <a:ext uri="{FF2B5EF4-FFF2-40B4-BE49-F238E27FC236}">
              <a16:creationId xmlns:a16="http://schemas.microsoft.com/office/drawing/2014/main" id="{5EC629F8-FA17-3E01-2F87-E8C08FD1D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>
            <a:extLst>
              <a:ext uri="{FF2B5EF4-FFF2-40B4-BE49-F238E27FC236}">
                <a16:creationId xmlns:a16="http://schemas.microsoft.com/office/drawing/2014/main" id="{234D3F94-49A7-13FC-87AB-E406427480E2}"/>
              </a:ext>
            </a:extLst>
          </p:cNvPr>
          <p:cNvSpPr txBox="1"/>
          <p:nvPr/>
        </p:nvSpPr>
        <p:spPr>
          <a:xfrm>
            <a:off x="297195" y="1638761"/>
            <a:ext cx="8347821" cy="2428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100" b="1" dirty="0">
                <a:solidFill>
                  <a:schemeClr val="tx1"/>
                </a:solidFill>
              </a:rPr>
              <a:t>Both the violin plot and box plot use the exact same dataset</a:t>
            </a:r>
            <a:r>
              <a:rPr lang="en-US" sz="1100" dirty="0">
                <a:solidFill>
                  <a:schemeClr val="tx1"/>
                </a:solidFill>
              </a:rPr>
              <a:t>, and they display the same core statistics:</a:t>
            </a:r>
          </a:p>
          <a:p>
            <a:pPr marL="171450" lvl="1" indent="-171450"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v"/>
            </a:pPr>
            <a:r>
              <a:rPr lang="en-US" sz="1100" b="1" dirty="0">
                <a:solidFill>
                  <a:schemeClr val="tx1"/>
                </a:solidFill>
              </a:rPr>
              <a:t>Median</a:t>
            </a:r>
            <a:r>
              <a:rPr lang="en-US" sz="1100" dirty="0">
                <a:solidFill>
                  <a:schemeClr val="tx1"/>
                </a:solidFill>
              </a:rPr>
              <a:t>: ~$27.4K</a:t>
            </a:r>
          </a:p>
          <a:p>
            <a:pPr marL="171450" lvl="1" indent="-171450"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v"/>
            </a:pPr>
            <a:r>
              <a:rPr lang="en-US" sz="1100" b="1" dirty="0">
                <a:solidFill>
                  <a:schemeClr val="tx1"/>
                </a:solidFill>
              </a:rPr>
              <a:t>Quartiles (Q1–Q3)</a:t>
            </a:r>
            <a:r>
              <a:rPr lang="en-US" sz="1100" dirty="0">
                <a:solidFill>
                  <a:schemeClr val="tx1"/>
                </a:solidFill>
              </a:rPr>
              <a:t>: ~$26.76K to ~$28.34K</a:t>
            </a:r>
          </a:p>
          <a:p>
            <a:pPr marL="171450" lvl="1" indent="-171450"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v"/>
            </a:pPr>
            <a:r>
              <a:rPr lang="en-US" sz="1100" b="1" dirty="0">
                <a:solidFill>
                  <a:schemeClr val="tx1"/>
                </a:solidFill>
              </a:rPr>
              <a:t>Min/Max</a:t>
            </a:r>
            <a:r>
              <a:rPr lang="en-US" sz="1100" dirty="0">
                <a:solidFill>
                  <a:schemeClr val="tx1"/>
                </a:solidFill>
              </a:rPr>
              <a:t>: ~$23.79K to ~$30.45K</a:t>
            </a:r>
          </a:p>
          <a:p>
            <a:pPr marL="171450" lvl="1" indent="-171450"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v"/>
            </a:pPr>
            <a:endParaRPr lang="en-US" sz="11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100" b="1" dirty="0">
                <a:solidFill>
                  <a:schemeClr val="tx1"/>
                </a:solidFill>
              </a:rPr>
              <a:t>What makes the violin plot different is the added “shape”</a:t>
            </a:r>
            <a:r>
              <a:rPr lang="en-US" sz="1100" dirty="0">
                <a:solidFill>
                  <a:schemeClr val="tx1"/>
                </a:solidFill>
              </a:rPr>
              <a:t>:</a:t>
            </a:r>
          </a:p>
          <a:p>
            <a:pPr marL="171450" lvl="1" indent="-171450"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v"/>
            </a:pPr>
            <a:r>
              <a:rPr lang="en-US" sz="1100" dirty="0">
                <a:solidFill>
                  <a:schemeClr val="tx1"/>
                </a:solidFill>
              </a:rPr>
              <a:t>It includes a </a:t>
            </a:r>
            <a:r>
              <a:rPr lang="en-US" sz="1100" b="1" dirty="0">
                <a:solidFill>
                  <a:schemeClr val="tx1"/>
                </a:solidFill>
              </a:rPr>
              <a:t>kernel density estimate (KDE)</a:t>
            </a:r>
            <a:r>
              <a:rPr lang="en-US" sz="1100" dirty="0">
                <a:solidFill>
                  <a:schemeClr val="tx1"/>
                </a:solidFill>
              </a:rPr>
              <a:t> — this shows the </a:t>
            </a:r>
            <a:r>
              <a:rPr lang="en-US" sz="1100" i="1" dirty="0">
                <a:solidFill>
                  <a:schemeClr val="tx1"/>
                </a:solidFill>
              </a:rPr>
              <a:t>distribution</a:t>
            </a:r>
            <a:r>
              <a:rPr lang="en-US" sz="1100" dirty="0">
                <a:solidFill>
                  <a:schemeClr val="tx1"/>
                </a:solidFill>
              </a:rPr>
              <a:t> of values across the range.</a:t>
            </a:r>
          </a:p>
          <a:p>
            <a:pPr marL="171450" lvl="1" indent="-171450"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v"/>
            </a:pPr>
            <a:r>
              <a:rPr lang="en-US" sz="1100" dirty="0">
                <a:solidFill>
                  <a:schemeClr val="tx1"/>
                </a:solidFill>
              </a:rPr>
              <a:t>The </a:t>
            </a:r>
            <a:r>
              <a:rPr lang="en-US" sz="1100" b="1" dirty="0">
                <a:solidFill>
                  <a:schemeClr val="tx1"/>
                </a:solidFill>
              </a:rPr>
              <a:t>width</a:t>
            </a:r>
            <a:r>
              <a:rPr lang="en-US" sz="1100" dirty="0">
                <a:solidFill>
                  <a:schemeClr val="tx1"/>
                </a:solidFill>
              </a:rPr>
              <a:t> of the violin at any point indicates the number of customers with average order values near that point.</a:t>
            </a:r>
          </a:p>
          <a:p>
            <a:pPr lvl="1">
              <a:lnSpc>
                <a:spcPct val="150000"/>
              </a:lnSpc>
              <a:buClr>
                <a:schemeClr val="tx1"/>
              </a:buClr>
            </a:pPr>
            <a:endParaRPr lang="en-US" sz="1100" dirty="0">
              <a:solidFill>
                <a:schemeClr val="tx1"/>
              </a:solidFill>
            </a:endParaRPr>
          </a:p>
          <a:p>
            <a:pPr lvl="2">
              <a:lnSpc>
                <a:spcPct val="150000"/>
              </a:lnSpc>
            </a:pPr>
            <a:r>
              <a:rPr lang="en-US" sz="1100" dirty="0">
                <a:solidFill>
                  <a:schemeClr val="tx1"/>
                </a:solidFill>
              </a:rPr>
              <a:t>Wide center? Many customers near that value.</a:t>
            </a:r>
          </a:p>
          <a:p>
            <a:pPr lvl="2">
              <a:lnSpc>
                <a:spcPct val="150000"/>
              </a:lnSpc>
            </a:pPr>
            <a:r>
              <a:rPr lang="en-US" sz="1100" dirty="0">
                <a:solidFill>
                  <a:schemeClr val="tx1"/>
                </a:solidFill>
              </a:rPr>
              <a:t>Narrow tail? Few customers at that extreme.</a:t>
            </a:r>
          </a:p>
          <a:p>
            <a:pPr lvl="1">
              <a:lnSpc>
                <a:spcPct val="150000"/>
              </a:lnSpc>
            </a:pPr>
            <a:r>
              <a:rPr lang="en-US" sz="1100" dirty="0">
                <a:solidFill>
                  <a:schemeClr val="tx1"/>
                </a:solidFill>
              </a:rPr>
              <a:t>So visually, it </a:t>
            </a:r>
            <a:r>
              <a:rPr lang="en-US" sz="1100" b="1" dirty="0">
                <a:solidFill>
                  <a:schemeClr val="tx1"/>
                </a:solidFill>
              </a:rPr>
              <a:t>reveals where the data is concentrated</a:t>
            </a:r>
            <a:r>
              <a:rPr lang="en-US" sz="1100" dirty="0">
                <a:solidFill>
                  <a:schemeClr val="tx1"/>
                </a:solidFill>
              </a:rPr>
              <a:t>, unlike the box plot, which only shows summary percentiles.</a:t>
            </a:r>
          </a:p>
          <a:p>
            <a:pPr lvl="1">
              <a:lnSpc>
                <a:spcPct val="150000"/>
              </a:lnSpc>
            </a:pPr>
            <a:endParaRPr lang="en-US" sz="11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100" b="1" dirty="0">
                <a:solidFill>
                  <a:schemeClr val="tx1"/>
                </a:solidFill>
              </a:rPr>
              <a:t>Why it matters</a:t>
            </a:r>
            <a:r>
              <a:rPr lang="en-US" sz="1100" dirty="0">
                <a:solidFill>
                  <a:schemeClr val="tx1"/>
                </a:solidFill>
              </a:rPr>
              <a:t>:</a:t>
            </a:r>
          </a:p>
          <a:p>
            <a:pPr marL="171450" lvl="1" indent="-171450"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v"/>
            </a:pPr>
            <a:r>
              <a:rPr lang="en-US" sz="1100" dirty="0">
                <a:solidFill>
                  <a:schemeClr val="tx1"/>
                </a:solidFill>
              </a:rPr>
              <a:t>The violin plot helps </a:t>
            </a:r>
            <a:r>
              <a:rPr lang="en-US" sz="1100" b="1" dirty="0">
                <a:solidFill>
                  <a:schemeClr val="tx1"/>
                </a:solidFill>
              </a:rPr>
              <a:t>understand behavior</a:t>
            </a:r>
            <a:r>
              <a:rPr lang="en-US" sz="1100" dirty="0">
                <a:solidFill>
                  <a:schemeClr val="tx1"/>
                </a:solidFill>
              </a:rPr>
              <a:t> and </a:t>
            </a:r>
            <a:r>
              <a:rPr lang="en-US" sz="1100" b="1" dirty="0">
                <a:solidFill>
                  <a:schemeClr val="tx1"/>
                </a:solidFill>
              </a:rPr>
              <a:t>detect skewness or multimodality</a:t>
            </a:r>
            <a:r>
              <a:rPr lang="en-US" sz="1100" dirty="0">
                <a:solidFill>
                  <a:schemeClr val="tx1"/>
                </a:solidFill>
              </a:rPr>
              <a:t>.</a:t>
            </a:r>
          </a:p>
          <a:p>
            <a:pPr marL="171450" lvl="1" indent="-171450"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v"/>
            </a:pPr>
            <a:r>
              <a:rPr lang="en-US" sz="1100" dirty="0">
                <a:solidFill>
                  <a:schemeClr val="tx1"/>
                </a:solidFill>
              </a:rPr>
              <a:t>In your case, it shows that most customers cluster tightly between </a:t>
            </a:r>
            <a:r>
              <a:rPr lang="en-US" sz="1100" b="1" dirty="0">
                <a:solidFill>
                  <a:schemeClr val="tx1"/>
                </a:solidFill>
              </a:rPr>
              <a:t>$27K–$28K</a:t>
            </a:r>
            <a:r>
              <a:rPr lang="en-US" sz="1100" dirty="0">
                <a:solidFill>
                  <a:schemeClr val="tx1"/>
                </a:solidFill>
              </a:rPr>
              <a:t>, with a few higher and lower outliers — especially relevant for segmentation and targeting.</a:t>
            </a:r>
          </a:p>
        </p:txBody>
      </p:sp>
      <p:pic>
        <p:nvPicPr>
          <p:cNvPr id="2" name="Picture 1" descr="A red sign with white text&#10;&#10;Description automatically generated">
            <a:extLst>
              <a:ext uri="{FF2B5EF4-FFF2-40B4-BE49-F238E27FC236}">
                <a16:creationId xmlns:a16="http://schemas.microsoft.com/office/drawing/2014/main" id="{2A86030D-4857-EE78-FDB2-9508971CB8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821" y="77484"/>
            <a:ext cx="745979" cy="3399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268356C-44C6-5007-666B-2639AC4443C2}"/>
              </a:ext>
            </a:extLst>
          </p:cNvPr>
          <p:cNvSpPr txBox="1"/>
          <p:nvPr/>
        </p:nvSpPr>
        <p:spPr>
          <a:xfrm>
            <a:off x="457586" y="77484"/>
            <a:ext cx="78902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dk1"/>
                </a:solidFill>
                <a:latin typeface="Merriweather"/>
              </a:rPr>
              <a:t>Why Does the Violin Plot Look Different from the Box Plot?</a:t>
            </a:r>
          </a:p>
        </p:txBody>
      </p:sp>
    </p:spTree>
    <p:extLst>
      <p:ext uri="{BB962C8B-B14F-4D97-AF65-F5344CB8AC3E}">
        <p14:creationId xmlns:p14="http://schemas.microsoft.com/office/powerpoint/2010/main" val="76136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" grpId="0"/>
    </p:bldLst>
  </p:timing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2288</TotalTime>
  <Words>2592</Words>
  <Application>Microsoft Macintosh PowerPoint</Application>
  <PresentationFormat>On-screen Show (16:9)</PresentationFormat>
  <Paragraphs>266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Merriweather</vt:lpstr>
      <vt:lpstr>Wingdings</vt:lpstr>
      <vt:lpstr>Courier New</vt:lpstr>
      <vt:lpstr>Aptos</vt:lpstr>
      <vt:lpstr>Arial</vt:lpstr>
      <vt:lpstr>Simple Dark</vt:lpstr>
      <vt:lpstr>AD 599S B1 Final Project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Trung Nguyen</cp:lastModifiedBy>
  <cp:revision>35</cp:revision>
  <dcterms:modified xsi:type="dcterms:W3CDTF">2025-08-07T01:19:46Z</dcterms:modified>
</cp:coreProperties>
</file>